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 ~40 s]</a:t>
            </a:r>
          </a:p>
          <a:p/>
          <a:p>
            <a:r>
              <a:t>Hola, soy [tu nombre]. En este vídeo presento mi caso práctico de NLP: un diagnóstico de marca empleadora de Deloitte a partir de las reseñas públicas de Glassdoor, comparado con sus competidores directos, PwC, EY y KPMG. He combinado dos técnicas: un transformer preentrenado para validar el sentimiento de las reseñas y topic modeling con BERTopic para descubrir de qué hablan los empleados. El objetivo es decirle a Recursos Humanos qué puntos fuertes puede explotar y qué áreas debe mejorar, y solo las que de verdad están peor que el mercado.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[Objetivos y asunciones · ~65 s]</a:t>
            </a:r>
          </a:p>
          <a:p/>
          <a:p>
            <a:r>
              <a:t>El encargo de RRHH tiene cuatro preguntas: cuáles son las fortalezas de Deloitte como empleador, cuáles son sus áreas de mejora, por qué se va la gente, y qué tres acciones concretas propondría. Y siempre comparando con los peers, porque un problema solo es prioritario si estamos peor que la competencia.</a:t>
            </a:r>
          </a:p>
          <a:p/>
          <a:p>
            <a:r>
              <a:t>Las decisiones de partida son estas. He elegido las otras tres Big Four como peers, porque reclutan en los mismos campus y compiten por el mismo talento. Para los modelos uso una muestra de dos mil reseñas por empresa con semilla fija, ocho mil en total, y para el análisis descriptivo uso las ciento veintinueve mil reseñas disponibles. Las reseñas vacías, del tipo "none" o "nothing", las aparto en una categoría propia. Y entreno un único modelo de topics para las cuatro firmas, uno para pros y otro para cons, porque si entrenara un modelo por empresa los topics no serían comparables.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la empresa y sus peers · ~40 s]</a:t>
            </a:r>
          </a:p>
          <a:p/>
          <a:p>
            <a:r>
              <a:t>El dataset lo preparó el profesor a partir de los dos datasets de Glassdoor de Kaggle: cinco millones de reseñas entre julio de 2018 y julio de 2023. De ahí cargo solo las cuatro firmas con el filtro de Parquet. Deloitte tiene cuarenta mil reseñas, PwC treinta y tres mil, EY casi treinta mil y KPMG veintiséis mil, así que la comparación es estadísticamente sólida. Cada reseña trae la empresa, la fecha, la situación y antigüedad del empleado, el rating de uno a cinco, si recomienda la empresa, y dos textos libres en inglés: los pros y los cons.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[Insights del EDA: la Big Four mejor valorada · ~50 s]</a:t>
            </a:r>
          </a:p>
          <a:p/>
          <a:p>
            <a:r>
              <a:t>Primer resultado: Deloitte es la Big Four mejor valorada. Rating medio de tres con noventa frente a tres con ochenta de media de los peers, y el menor porcentaje de reseñas de una o dos estrellas. En recomendación es segunda sobre el total, con un cuarenta y seis por ciento, pero primera si miramos solo a quienes contestan, con cerca del setenta y nueve por ciento. Además, el setenta por ciento de sus reseñas son de empleados actuales. La conclusión accionable es que el mensaje "la Big Four mejor valorada por sus empleados" está respaldado por los datos, aunque como las diferencias de rating son pequeñas conviene apoyarlo en hechos concretos, que veremos después.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[Insights del EDA: tendencia y un artefacto · ~60 s]</a:t>
            </a:r>
          </a:p>
          <a:p/>
          <a:p>
            <a:r>
              <a:t>Segundo resultado: la tendencia es favorable. El rating de Deloitte sube de tres con ochenta y cinco a cuatro en 2022 y lidera el grupo desde entonces. Aquí hay una trampa importante: el porcentaje bruto que recomienda la empresa cae en las cuatro firmas, en Deloitte del cincuenta y cinco al treinta y ocho por ciento. Parece un deterioro, pero es un artefacto del dato: la proporción de reseñas que no contestan a esa pregunta pasa del treinta y cinco al cincuenta y cuatro por ciento. Si miramos solo a quienes opinan, Deloitte se mantiene estable entre el setenta y ocho y el ochenta y dos por ciento. Por eso recomiendo reportar siempre la recomendación entre quienes opinan. También se ve que los antiguos empleados puntúan unas tres décimas menos en todas las firmas: es el sesgo de selección habitual, no algo de Deloitte.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[Validación del sentimiento · ~100 s]</a:t>
            </a:r>
          </a:p>
          <a:p/>
          <a:p>
            <a:r>
              <a:t>Antes de analizar temas hago un control de calidad del texto. Aplico el modelo DistilBERT ajustado en SST-2 a los pros y a los cons por separado. Lo elegí porque es binario, positivo o negativo, que es exactamente la pregunta de control; es rápido, clasifica dieciséis mil textos en menos de un minuto; y está entrenado en inglés. Uso truncation igual a True porque los modelos tipo BERT admiten un máximo de quinientos doce tokens.</a:t>
            </a:r>
          </a:p>
          <a:p/>
          <a:p>
            <a:r>
              <a:t>El resultado valida el dato: el noventa y cinco por ciento de los pros salen positivos y el ochenta y dos por ciento de los cons salen negativos, con cifras casi idénticas en las cuatro firmas. Y el modelo discrimina bien: quien tiene pros y cons negativos puntúa dos con setenta y cinco de media, frente a cuatro con veintiuno cuando ambos son positivos.</a:t>
            </a:r>
          </a:p>
          <a:p/>
          <a:p>
            <a:r>
              <a:t>He leído los casos discordantes. Los cons positivos son sobre todo reseñas sin queja, como "No cons, so far I love it", listas de temas sin palabras negativas, y quejas aceptadas con deportividad, como "long hours and challenging work" con cinco estrellas. Los pros negativos son reseñas de una estrella que niegan que haya algo bueno, o elogios con jerga que confunden al modelo, como "steep learning curve". Es decir, no hay un fallo del pipeline, sino los límites de un clasificador sin contexto. Por eso las empresas se comparan por tema y no por sentimiento.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modeling con BERTopic · ~70 s]</a:t>
            </a:r>
          </a:p>
          <a:p/>
          <a:p>
            <a:r>
              <a:t>Para descubrir los temas uso BERTopic, y no LDA, porque las reseñas son muy cortas, ocho palabras de mediana, y LDA cuenta palabras sin saber que "work life balance" y "long hours" hablan de lo mismo. BERTopic agrupa por significado. El pipeline tiene cinco pasos: primero convierto cada reseña en un vector con el modelo de frases all-MiniLM; segundo, UMAP reduce a cinco dimensiones con semilla fija; tercero, HDBSCAN agrupa por densidad, con un tamaño mínimo de sesenta reseñas por topic, porque para RRHH un patrón debe tener cierto volumen y no ser una anécdota; cuarto, c-TF-IDF saca las palabras que distinguen cada topic; y quinto, reviso a mano los topics y los agrupo en categorías de negocio.</a:t>
            </a:r>
          </a:p>
          <a:p/>
          <a:p>
            <a:r>
              <a:t>Sobre los outliers: HDBSCAN deja fuera a un veinticinco por ciento de reseñas. Decidí reasignarlas al topic más parecido por embedding, porque la comparación entre empresas necesita que cada reseña con contenido cuente. Y comprobé que, sin reasignar, las conclusiones se mantienen.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[Análisis de topics: de qué hablan las Big Four · ~60 s]</a:t>
            </a:r>
          </a:p>
          <a:p/>
          <a:p>
            <a:r>
              <a:t>Salieron treinta y tres topics en los pros y treinta en los cons. Los he agrupado a mano en ocho categorías de RRHH, las mismas para pros y cons: compensación, conciliación, carrera, dirección, cultura, burocracia, flexibilidad, y marca y proyectos. Para validar mi revisión, una regla automática por léxico coincide con mi asignación en el ochenta y dos por ciento de los topics; las discrepancias son topics mixtos que resolví leyendo las reseñas.</a:t>
            </a:r>
          </a:p>
          <a:p/>
          <a:p>
            <a:r>
              <a:t>La imagen de conjunto del sector es clara: en los pros dominan la carrera y el aprendizaje, un treinta y dos por ciento, y la cultura y los compañeros, un veintinueve. En los cons dominan la carga de trabajo, un treinta y tres por ciento, y el salario, un diecinueve. Esto es el contrato implícito de las Big Four y es igual en las cuatro firmas.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[Comparación con peers · ~80 s]</a:t>
            </a:r>
          </a:p>
          <a:p/>
          <a:p>
            <a:r>
              <a:t>Aquí está el núcleo del diagnóstico. Como los porcentajes de cada empresa suman cien y son relativos, uso el balance neto: el porcentaje de reseñas que elogian una categoría menos el porcentaje que se queja de ella, y comparo el balance de Deloitte con la media de los peers.</a:t>
            </a:r>
          </a:p>
          <a:p/>
          <a:p>
            <a:r>
              <a:t>Deloitte tiene dos fortalezas relativas. La conciliación, con más de seis puntos de ventaja: sigue siendo su mayor queja, el veintinueve por ciento de los cons, pero en los peers es el treinta y cuatro, y PwC llega al treinta y ocho. Y la compensación, con casi cuatro puntos de ventaja: menos quejas y más elogios que cualquier peer. En resumen, la mejor relación esfuerzo-recompensa del grupo.</a:t>
            </a:r>
          </a:p>
          <a:p/>
          <a:p>
            <a:r>
              <a:t>Y tiene una debilidad clara: marca, clientes y proyectos, con cuatro puntos y medio de desventaja. Los elogios son iguales, pero las quejas casi doblan a las de los peers, once por ciento frente a siete. Leyendo esos topics, las quejas hablan de la asignación y calidad de los proyectos: proyectos largos con tecnología obsoleta, falta de rotación, poco contacto con el cliente. El resto de categorías está en la media del sector.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quejas pesan de verdad · ~65 s]</a:t>
            </a:r>
          </a:p>
          <a:p/>
          <a:p>
            <a:r>
              <a:t>El enunciado pide contrastar las conclusiones del texto con el rating y la recomendación, y aquí aparece el hallazgo más interesante. No todas las quejas pesan igual. Quien se queja de la dirección y los managers puntúa tres con cuarenta y seis, casi medio punto por debajo de la media, y el veinticuatro por ciento no recomienda Deloitte, frente al trece por ciento general. En cambio, quien se queja de las horas puntúa cuatro con cero dos, por encima de la media, y recomienda la empresa igual que el resto. Las horas se asumen como parte del trato Big Four. Lo confirma el análisis por recomendación: entre quienes no recomiendan Deloitte, la dirección es el veinte por ciento de las quejas, frente al ocho por ciento entre quienes sí recomiendan. Conclusión: la conciliación es la queja más frecuente, pero la calidad directiva es la más dañina.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[Empleados actuales vs. antiguos · ~70 s]</a:t>
            </a:r>
          </a:p>
          <a:p/>
          <a:p>
            <a:r>
              <a:t>Los cons de quienes ya se han ido son, en la práctica, motivos de salida. Comparo temas y no sentimiento, porque los antiguos empleados puntúan más bajo en todas las firmas. En Deloitte, las quejas de los antiguos se parecen a las de los actuales en casi todo, con una excepción muy clara: la dirección pasa del ocho por ciento de los cons de los actuales al catorce por ciento de los antiguos. Quien se va se queja de sus jefes mucho más que quien se queda. El salario y las horas, en cambio, pesan menos entre los que se fueron.</a:t>
            </a:r>
          </a:p>
          <a:p/>
          <a:p>
            <a:r>
              <a:t>Frente a los antiguos empleados de los peers, los de Deloitte citan menos la conciliación, veintiocho frente a treinta y cuatro por ciento, y más los proyectos y la dirección. Y en los pros, quienes se fueron casi no mencionan la flexibilidad, dos y medio por ciento frente a casi siete entre los actuales, lo que sugiere que las políticas actuales de flexibilidad están reteniendo.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[Matriz de priorización · ~55 s]</a:t>
            </a:r>
          </a:p>
          <a:p/>
          <a:p>
            <a:r>
              <a:t>Para priorizar cruzo el peso de cada categoría en los cons de Deloitte con su desventaja frente a los peers; el tamaño del punto es cuánto castiga esa queja al rating. Salen dos prioridades altas. La dirección y el management, por ser la queja que más daña el rating y el principal motivo de salida. Y la asignación y calidad de los proyectos, por ser la única categoría donde Deloitte está claramente peor que el mercado y además va a más. La carrera y la promoción quedan como prioridad media. Y la conciliación y la compensación, aunque son las mayores quejas en volumen, son estructurales del sector, están por debajo de los peers y no castigan el rating: no son prioridad de inversión sino de vigilancia.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[Extras: evolución, recomendación y antigüedad · ~30 s]</a:t>
            </a:r>
          </a:p>
          <a:p/>
          <a:p>
            <a:r>
              <a:t>Como extra, he mirado la evolución temporal. En Deloitte suben las quejas por conciliación, del veintiséis al treinta y dos por ciento, y por proyectos, del diez al catorce, y bajan las de dirección y carrera. Los elogios al salario suben, coincidiendo con las subidas de 2022. Por antigüedad, la conciliación pesa más cuanto más tiempo lleva el empleado, y el salario pesa más entre uno y cinco años, el momento de la primera promoción.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[Conclusiones · ~45 s]</a:t>
            </a:r>
          </a:p>
          <a:p/>
          <a:p>
            <a:r>
              <a:t>Resumiendo. Deloitte es la Big Four mejor valorada y en ascenso, y ofrece la mejor relación esfuerzo-recompensa del grupo: menos quejas por horas y por salario que cualquier peer. Comparte con el sector los activos clásicos, aprendizaje y cultura. Sus áreas de mejora son dos: la calidad directiva, que es la queja que más daña el rating y la que más distingue a quien se va; y la asignación de proyectos, la única categoría claramente peor que el mercado y en aumento. Las horas y el salario hay que vigilarlos, porque las quejas por horas crecen, pero no son el problema diferencial de Deloitte.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[Propuesta de acciones para RRHH · ~70 s]</a:t>
            </a:r>
          </a:p>
          <a:p/>
          <a:p>
            <a:r>
              <a:t>Propongo tres acciones. Primera, un programa de calidad directiva para managers y senior managers: evaluación ascendente, del equipo al jefe, con peso real en la promoción; formación obligatoria en gestión de personas; y seguimiento trimestral de los equipos con peor feedback. El objetivo es bajar las quejas sobre dirección entre quienes se van del catorce por ciento al nivel de los peers en dieciocho meses.</a:t>
            </a:r>
          </a:p>
          <a:p/>
          <a:p>
            <a:r>
              <a:t>Segunda, un staffing transparente y con rotación: un mercado interno de proyectos visible para todos, revisión obligatoria tras doce meses en el mismo proyecto, modernización de los proyectos antiguos y exposición al cliente para los centros de entrega. Objetivo: bajar las quejas sobre proyectos del once al siete por ciento.</a:t>
            </a:r>
          </a:p>
          <a:p/>
          <a:p>
            <a:r>
              <a:t>Tercera, vender y proteger la ventaja en esfuerzo-recompensa: usar en campus hechos verificables, como el rating de cuatro en 2022 y las menores quejas por horas y salario del sector, y protegerla con reglas de temporada alta y seguimiento trimestral de las quejas por horas, que han subido seis puntos desde 2018.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[Limitaciones y próximos pasos · ~60 s]</a:t>
            </a:r>
          </a:p>
          <a:p/>
          <a:p>
            <a:r>
              <a:t>Las limitaciones. Glassdoor es voluntario y autoseleccionado, así que los niveles absolutos se leen con cautela y lo fiable es la comparación relativa. El dataset mezcla países y líneas de servicio, y un problema local se diluye. Cada reseña va a un solo topic aunque hable de varios temas, y la agrupación en categorías es un juicio manual, así que diferencias de uno o dos puntos no son significativas. Y el modelo de sentimiento está entrenado en críticas de cine, por eso solo lo uso como control de calidad.</a:t>
            </a:r>
          </a:p>
          <a:p/>
          <a:p>
            <a:r>
              <a:t>Como próximos pasos propongo segmentar por país y puesto, que están en el dataset original de Kaggle; entrenar un clasificador multietiqueta con las ocho mil reseñas etiquetadas para cubrir las ciento veintinueve mil; automatizar un seguimiento trimestral; y cruzar con encuestas internas y entrevistas de salida.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técnico · ~20 s]</a:t>
            </a:r>
          </a:p>
          <a:p/>
          <a:p>
            <a:r>
              <a:t>Dejo como anexo los parámetros técnicos y el entorno. Todo es reproducible: semilla cuarenta y dos en el muestreo y en UMAP, y el notebook se ejecuta de arriba abajo sin errores en unos cinco minutos con GPU. Gracias por vuestra atención.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4D24"/>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4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1463040"/>
          </a:xfrm>
          <a:prstGeom prst="rect">
            <a:avLst/>
          </a:prstGeom>
          <a:noFill/>
        </p:spPr>
        <p:txBody>
          <a:bodyPr wrap="square" anchor="t" lIns="45720" rIns="45720">
            <a:spAutoFit/>
          </a:bodyPr>
          <a:lstStyle/>
          <a:p>
            <a:pPr algn="l">
              <a:lnSpc>
                <a:spcPct val="110000"/>
              </a:lnSpc>
            </a:pPr>
            <a:r>
              <a:rPr sz="4000" b="1" i="0">
                <a:solidFill>
                  <a:srgbClr val="FFFFFF"/>
                </a:solidFill>
                <a:latin typeface="Cambria"/>
              </a:rPr>
              <a:t>Diagnóstico de marca empleadora con reseñas de Glassdoor</a:t>
            </a:r>
          </a:p>
        </p:txBody>
      </p:sp>
      <p:sp>
        <p:nvSpPr>
          <p:cNvPr id="4" name="TextBox 3"/>
          <p:cNvSpPr txBox="1"/>
          <p:nvPr/>
        </p:nvSpPr>
        <p:spPr>
          <a:xfrm>
            <a:off x="822960" y="2971800"/>
            <a:ext cx="10515600" cy="640080"/>
          </a:xfrm>
          <a:prstGeom prst="rect">
            <a:avLst/>
          </a:prstGeom>
          <a:noFill/>
        </p:spPr>
        <p:txBody>
          <a:bodyPr wrap="square" anchor="t" lIns="45720" rIns="45720">
            <a:spAutoFit/>
          </a:bodyPr>
          <a:lstStyle/>
          <a:p>
            <a:pPr algn="l">
              <a:lnSpc>
                <a:spcPct val="110000"/>
              </a:lnSpc>
            </a:pPr>
            <a:r>
              <a:rPr sz="2000" b="0" i="0">
                <a:solidFill>
                  <a:srgbClr val="CFE8D6"/>
                </a:solidFill>
                <a:latin typeface="Calibri"/>
              </a:rPr>
              <a:t>Deloitte frente a PwC, EY y KPMG · análisis de sentimiento (DistilBERT) y topic modeling (BERTopic)</a:t>
            </a:r>
          </a:p>
        </p:txBody>
      </p:sp>
      <p:sp>
        <p:nvSpPr>
          <p:cNvPr id="5" name="TextBox 4"/>
          <p:cNvSpPr txBox="1"/>
          <p:nvPr/>
        </p:nvSpPr>
        <p:spPr>
          <a:xfrm>
            <a:off x="822960" y="3931920"/>
            <a:ext cx="10515600" cy="457200"/>
          </a:xfrm>
          <a:prstGeom prst="rect">
            <a:avLst/>
          </a:prstGeom>
          <a:noFill/>
        </p:spPr>
        <p:txBody>
          <a:bodyPr wrap="square" anchor="t" lIns="45720" rIns="45720">
            <a:spAutoFit/>
          </a:bodyPr>
          <a:lstStyle/>
          <a:p>
            <a:pPr algn="l">
              <a:lnSpc>
                <a:spcPct val="110000"/>
              </a:lnSpc>
            </a:pPr>
            <a:r>
              <a:rPr sz="1400" b="0" i="0">
                <a:solidFill>
                  <a:srgbClr val="9FC4AB"/>
                </a:solidFill>
                <a:latin typeface="Calibri"/>
              </a:rPr>
              <a:t>Caso práctico de NLP · Máster en Data Science &amp; IA · Evolve Academy</a:t>
            </a:r>
          </a:p>
        </p:txBody>
      </p:sp>
      <p:sp>
        <p:nvSpPr>
          <p:cNvPr id="6" name="TextBox 5"/>
          <p:cNvSpPr txBox="1"/>
          <p:nvPr/>
        </p:nvSpPr>
        <p:spPr>
          <a:xfrm>
            <a:off x="822960" y="4846320"/>
            <a:ext cx="2468880" cy="640080"/>
          </a:xfrm>
          <a:prstGeom prst="rect">
            <a:avLst/>
          </a:prstGeom>
          <a:noFill/>
        </p:spPr>
        <p:txBody>
          <a:bodyPr wrap="square" anchor="t" lIns="45720" rIns="45720">
            <a:spAutoFit/>
          </a:bodyPr>
          <a:lstStyle/>
          <a:p>
            <a:pPr algn="l">
              <a:lnSpc>
                <a:spcPct val="110000"/>
              </a:lnSpc>
            </a:pPr>
            <a:r>
              <a:rPr sz="2800" b="1" i="0">
                <a:solidFill>
                  <a:srgbClr val="FFFFFF"/>
                </a:solidFill>
                <a:latin typeface="Cambria"/>
              </a:rPr>
              <a:t>129.115</a:t>
            </a:r>
          </a:p>
        </p:txBody>
      </p:sp>
      <p:sp>
        <p:nvSpPr>
          <p:cNvPr id="7" name="TextBox 6"/>
          <p:cNvSpPr txBox="1"/>
          <p:nvPr/>
        </p:nvSpPr>
        <p:spPr>
          <a:xfrm>
            <a:off x="822960" y="5440680"/>
            <a:ext cx="2468880" cy="548640"/>
          </a:xfrm>
          <a:prstGeom prst="rect">
            <a:avLst/>
          </a:prstGeom>
          <a:noFill/>
        </p:spPr>
        <p:txBody>
          <a:bodyPr wrap="square" anchor="t" lIns="45720" rIns="45720">
            <a:spAutoFit/>
          </a:bodyPr>
          <a:lstStyle/>
          <a:p>
            <a:pPr algn="l">
              <a:lnSpc>
                <a:spcPct val="110000"/>
              </a:lnSpc>
            </a:pPr>
            <a:r>
              <a:rPr sz="1100" b="0" i="0">
                <a:solidFill>
                  <a:srgbClr val="CFE8D6"/>
                </a:solidFill>
                <a:latin typeface="Calibri"/>
              </a:rPr>
              <a:t>reseñas de las 4 firmas (EDA)</a:t>
            </a:r>
          </a:p>
        </p:txBody>
      </p:sp>
      <p:sp>
        <p:nvSpPr>
          <p:cNvPr id="8" name="TextBox 7"/>
          <p:cNvSpPr txBox="1"/>
          <p:nvPr/>
        </p:nvSpPr>
        <p:spPr>
          <a:xfrm>
            <a:off x="3520440" y="4846320"/>
            <a:ext cx="2468880" cy="640080"/>
          </a:xfrm>
          <a:prstGeom prst="rect">
            <a:avLst/>
          </a:prstGeom>
          <a:noFill/>
        </p:spPr>
        <p:txBody>
          <a:bodyPr wrap="square" anchor="t" lIns="45720" rIns="45720">
            <a:spAutoFit/>
          </a:bodyPr>
          <a:lstStyle/>
          <a:p>
            <a:pPr algn="l">
              <a:lnSpc>
                <a:spcPct val="110000"/>
              </a:lnSpc>
            </a:pPr>
            <a:r>
              <a:rPr sz="2800" b="1" i="0">
                <a:solidFill>
                  <a:srgbClr val="FFFFFF"/>
                </a:solidFill>
                <a:latin typeface="Cambria"/>
              </a:rPr>
              <a:t>8.000</a:t>
            </a:r>
          </a:p>
        </p:txBody>
      </p:sp>
      <p:sp>
        <p:nvSpPr>
          <p:cNvPr id="9" name="TextBox 8"/>
          <p:cNvSpPr txBox="1"/>
          <p:nvPr/>
        </p:nvSpPr>
        <p:spPr>
          <a:xfrm>
            <a:off x="3520440" y="5440680"/>
            <a:ext cx="2468880" cy="548640"/>
          </a:xfrm>
          <a:prstGeom prst="rect">
            <a:avLst/>
          </a:prstGeom>
          <a:noFill/>
        </p:spPr>
        <p:txBody>
          <a:bodyPr wrap="square" anchor="t" lIns="45720" rIns="45720">
            <a:spAutoFit/>
          </a:bodyPr>
          <a:lstStyle/>
          <a:p>
            <a:pPr algn="l">
              <a:lnSpc>
                <a:spcPct val="110000"/>
              </a:lnSpc>
            </a:pPr>
            <a:r>
              <a:rPr sz="1100" b="0" i="0">
                <a:solidFill>
                  <a:srgbClr val="CFE8D6"/>
                </a:solidFill>
                <a:latin typeface="Calibri"/>
              </a:rPr>
              <a:t>reseñas modeladas (2.000 por firma)</a:t>
            </a:r>
          </a:p>
        </p:txBody>
      </p:sp>
      <p:sp>
        <p:nvSpPr>
          <p:cNvPr id="10" name="TextBox 9"/>
          <p:cNvSpPr txBox="1"/>
          <p:nvPr/>
        </p:nvSpPr>
        <p:spPr>
          <a:xfrm>
            <a:off x="6217920" y="4846320"/>
            <a:ext cx="2468880" cy="640080"/>
          </a:xfrm>
          <a:prstGeom prst="rect">
            <a:avLst/>
          </a:prstGeom>
          <a:noFill/>
        </p:spPr>
        <p:txBody>
          <a:bodyPr wrap="square" anchor="t" lIns="45720" rIns="45720">
            <a:spAutoFit/>
          </a:bodyPr>
          <a:lstStyle/>
          <a:p>
            <a:pPr algn="l">
              <a:lnSpc>
                <a:spcPct val="110000"/>
              </a:lnSpc>
            </a:pPr>
            <a:r>
              <a:rPr sz="2800" b="1" i="0">
                <a:solidFill>
                  <a:srgbClr val="FFFFFF"/>
                </a:solidFill>
                <a:latin typeface="Cambria"/>
              </a:rPr>
              <a:t>2018-2023</a:t>
            </a:r>
          </a:p>
        </p:txBody>
      </p:sp>
      <p:sp>
        <p:nvSpPr>
          <p:cNvPr id="11" name="TextBox 10"/>
          <p:cNvSpPr txBox="1"/>
          <p:nvPr/>
        </p:nvSpPr>
        <p:spPr>
          <a:xfrm>
            <a:off x="6217920" y="5440680"/>
            <a:ext cx="2468880" cy="548640"/>
          </a:xfrm>
          <a:prstGeom prst="rect">
            <a:avLst/>
          </a:prstGeom>
          <a:noFill/>
        </p:spPr>
        <p:txBody>
          <a:bodyPr wrap="square" anchor="t" lIns="45720" rIns="45720">
            <a:spAutoFit/>
          </a:bodyPr>
          <a:lstStyle/>
          <a:p>
            <a:pPr algn="l">
              <a:lnSpc>
                <a:spcPct val="110000"/>
              </a:lnSpc>
            </a:pPr>
            <a:r>
              <a:rPr sz="1100" b="0" i="0">
                <a:solidFill>
                  <a:srgbClr val="CFE8D6"/>
                </a:solidFill>
                <a:latin typeface="Calibri"/>
              </a:rPr>
              <a:t>ventana temporal</a:t>
            </a:r>
          </a:p>
        </p:txBody>
      </p:sp>
      <p:sp>
        <p:nvSpPr>
          <p:cNvPr id="12" name="TextBox 11"/>
          <p:cNvSpPr txBox="1"/>
          <p:nvPr/>
        </p:nvSpPr>
        <p:spPr>
          <a:xfrm>
            <a:off x="8915400" y="4846320"/>
            <a:ext cx="2468880" cy="640080"/>
          </a:xfrm>
          <a:prstGeom prst="rect">
            <a:avLst/>
          </a:prstGeom>
          <a:noFill/>
        </p:spPr>
        <p:txBody>
          <a:bodyPr wrap="square" anchor="t" lIns="45720" rIns="45720">
            <a:spAutoFit/>
          </a:bodyPr>
          <a:lstStyle/>
          <a:p>
            <a:pPr algn="l">
              <a:lnSpc>
                <a:spcPct val="110000"/>
              </a:lnSpc>
            </a:pPr>
            <a:r>
              <a:rPr sz="2800" b="1" i="0">
                <a:solidFill>
                  <a:srgbClr val="FFFFFF"/>
                </a:solidFill>
                <a:latin typeface="Cambria"/>
              </a:rPr>
              <a:t>63</a:t>
            </a:r>
          </a:p>
        </p:txBody>
      </p:sp>
      <p:sp>
        <p:nvSpPr>
          <p:cNvPr id="13" name="TextBox 12"/>
          <p:cNvSpPr txBox="1"/>
          <p:nvPr/>
        </p:nvSpPr>
        <p:spPr>
          <a:xfrm>
            <a:off x="8915400" y="5440680"/>
            <a:ext cx="2468880" cy="548640"/>
          </a:xfrm>
          <a:prstGeom prst="rect">
            <a:avLst/>
          </a:prstGeom>
          <a:noFill/>
        </p:spPr>
        <p:txBody>
          <a:bodyPr wrap="square" anchor="t" lIns="45720" rIns="45720">
            <a:spAutoFit/>
          </a:bodyPr>
          <a:lstStyle/>
          <a:p>
            <a:pPr algn="l">
              <a:lnSpc>
                <a:spcPct val="110000"/>
              </a:lnSpc>
            </a:pPr>
            <a:r>
              <a:rPr sz="1100" b="0" i="0">
                <a:solidFill>
                  <a:srgbClr val="CFE8D6"/>
                </a:solidFill>
                <a:latin typeface="Calibri"/>
              </a:rPr>
              <a:t>topics → 8 categorías de RRHH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Objetivos y asunciones</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Qué pide RRHH y qué criterios he adoptado</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2</a:t>
            </a:r>
          </a:p>
        </p:txBody>
      </p:sp>
      <p:sp>
        <p:nvSpPr>
          <p:cNvPr id="6" name="Rounded Rectangle 5"/>
          <p:cNvSpPr/>
          <p:nvPr/>
        </p:nvSpPr>
        <p:spPr>
          <a:xfrm>
            <a:off x="548640" y="1463040"/>
            <a:ext cx="5394960" cy="475488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51206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Objetivos</a:t>
            </a:r>
          </a:p>
        </p:txBody>
      </p:sp>
      <p:sp>
        <p:nvSpPr>
          <p:cNvPr id="8" name="TextBox 7"/>
          <p:cNvSpPr txBox="1"/>
          <p:nvPr/>
        </p:nvSpPr>
        <p:spPr>
          <a:xfrm>
            <a:off x="685800" y="1965960"/>
            <a:ext cx="5120640" cy="4160520"/>
          </a:xfrm>
          <a:prstGeom prst="rect">
            <a:avLst/>
          </a:prstGeom>
          <a:noFill/>
        </p:spPr>
        <p:txBody>
          <a:bodyPr wrap="square" lIns="45720" rIns="45720">
            <a:spAutoFit/>
          </a:bodyPr>
          <a:lstStyle/>
          <a:p>
            <a:pPr>
              <a:lnSpc>
                <a:spcPct val="108000"/>
              </a:lnSpc>
              <a:spcAft>
                <a:spcPts val="400"/>
              </a:spcAft>
            </a:pPr>
            <a:r>
              <a:rPr sz="1400" b="1">
                <a:solidFill>
                  <a:srgbClr val="1B7F3B"/>
                </a:solidFill>
                <a:latin typeface="Calibri"/>
              </a:rPr>
              <a:t>• </a:t>
            </a:r>
            <a:r>
              <a:rPr b="1" sz="1400">
                <a:solidFill>
                  <a:srgbClr val="212121"/>
                </a:solidFill>
                <a:latin typeface="Calibri"/>
              </a:rPr>
              <a:t>Diagnóstico de Deloitte como empleador </a:t>
            </a:r>
            <a:r>
              <a:rPr sz="1400">
                <a:solidFill>
                  <a:srgbClr val="212121"/>
                </a:solidFill>
                <a:latin typeface="Calibri"/>
              </a:rPr>
              <a:t>a partir de lo que dicen sus empleados y exempleados en Glassdoor.</a:t>
            </a:r>
          </a:p>
          <a:p>
            <a:pPr>
              <a:lnSpc>
                <a:spcPct val="108000"/>
              </a:lnSpc>
              <a:spcAft>
                <a:spcPts val="400"/>
              </a:spcAft>
            </a:pPr>
            <a:r>
              <a:rPr sz="1400" b="1">
                <a:solidFill>
                  <a:srgbClr val="1B7F3B"/>
                </a:solidFill>
                <a:latin typeface="Calibri"/>
              </a:rPr>
              <a:t>• </a:t>
            </a:r>
            <a:r>
              <a:rPr b="1" sz="1400">
                <a:solidFill>
                  <a:srgbClr val="212121"/>
                </a:solidFill>
                <a:latin typeface="Calibri"/>
              </a:rPr>
              <a:t>Fortalezas </a:t>
            </a:r>
            <a:r>
              <a:rPr sz="1400">
                <a:solidFill>
                  <a:srgbClr val="212121"/>
                </a:solidFill>
                <a:latin typeface="Calibri"/>
              </a:rPr>
              <a:t>para employer branding y selección; </a:t>
            </a:r>
          </a:p>
          <a:p>
            <a:pPr>
              <a:lnSpc>
                <a:spcPct val="108000"/>
              </a:lnSpc>
              <a:spcAft>
                <a:spcPts val="400"/>
              </a:spcAft>
            </a:pPr>
            <a:r>
              <a:rPr sz="1400" b="1">
                <a:solidFill>
                  <a:srgbClr val="1B7F3B"/>
                </a:solidFill>
                <a:latin typeface="Calibri"/>
              </a:rPr>
              <a:t>• </a:t>
            </a:r>
            <a:r>
              <a:rPr b="1" sz="1400">
                <a:solidFill>
                  <a:srgbClr val="212121"/>
                </a:solidFill>
                <a:latin typeface="Calibri"/>
              </a:rPr>
              <a:t>áreas de mejora </a:t>
            </a:r>
            <a:r>
              <a:rPr sz="1400">
                <a:solidFill>
                  <a:srgbClr val="212121"/>
                </a:solidFill>
                <a:latin typeface="Calibri"/>
              </a:rPr>
              <a:t>que dañan la reputación o provocan salidas.</a:t>
            </a:r>
          </a:p>
          <a:p>
            <a:pPr>
              <a:lnSpc>
                <a:spcPct val="108000"/>
              </a:lnSpc>
              <a:spcAft>
                <a:spcPts val="400"/>
              </a:spcAft>
            </a:pPr>
            <a:r>
              <a:rPr sz="1400" b="1">
                <a:solidFill>
                  <a:srgbClr val="1B7F3B"/>
                </a:solidFill>
                <a:latin typeface="Calibri"/>
              </a:rPr>
              <a:t>• </a:t>
            </a:r>
            <a:r>
              <a:rPr b="1" sz="1400">
                <a:solidFill>
                  <a:srgbClr val="212121"/>
                </a:solidFill>
                <a:latin typeface="Calibri"/>
              </a:rPr>
              <a:t>Siempre frente a los peers: </a:t>
            </a:r>
            <a:r>
              <a:rPr sz="1400">
                <a:solidFill>
                  <a:srgbClr val="212121"/>
                </a:solidFill>
                <a:latin typeface="Calibri"/>
              </a:rPr>
              <a:t>un problema solo es prioritario si estamos peor que el mercado.</a:t>
            </a:r>
          </a:p>
          <a:p>
            <a:pPr>
              <a:lnSpc>
                <a:spcPct val="108000"/>
              </a:lnSpc>
              <a:spcAft>
                <a:spcPts val="400"/>
              </a:spcAft>
            </a:pPr>
            <a:r>
              <a:rPr sz="1400" b="1">
                <a:solidFill>
                  <a:srgbClr val="1B7F3B"/>
                </a:solidFill>
                <a:latin typeface="Calibri"/>
              </a:rPr>
              <a:t>• </a:t>
            </a:r>
            <a:r>
              <a:rPr b="1" sz="1400">
                <a:solidFill>
                  <a:srgbClr val="212121"/>
                </a:solidFill>
                <a:latin typeface="Calibri"/>
              </a:rPr>
              <a:t>Motivos de salida: </a:t>
            </a:r>
            <a:r>
              <a:rPr sz="1400">
                <a:solidFill>
                  <a:srgbClr val="212121"/>
                </a:solidFill>
                <a:latin typeface="Calibri"/>
              </a:rPr>
              <a:t>qué dicen los antiguos empleados frente a los actuales.</a:t>
            </a:r>
          </a:p>
          <a:p>
            <a:pPr>
              <a:lnSpc>
                <a:spcPct val="108000"/>
              </a:lnSpc>
              <a:spcAft>
                <a:spcPts val="400"/>
              </a:spcAft>
            </a:pPr>
            <a:r>
              <a:rPr sz="1400" b="1">
                <a:solidFill>
                  <a:srgbClr val="1B7F3B"/>
                </a:solidFill>
                <a:latin typeface="Calibri"/>
              </a:rPr>
              <a:t>• </a:t>
            </a:r>
            <a:r>
              <a:rPr b="1" sz="1400">
                <a:solidFill>
                  <a:srgbClr val="212121"/>
                </a:solidFill>
                <a:latin typeface="Calibri"/>
              </a:rPr>
              <a:t>Máximo 3 recomendaciones </a:t>
            </a:r>
            <a:r>
              <a:rPr sz="1400">
                <a:solidFill>
                  <a:srgbClr val="212121"/>
                </a:solidFill>
                <a:latin typeface="Calibri"/>
              </a:rPr>
              <a:t>concretas y comprensibles para RRHH, con sus limitaciones.</a:t>
            </a:r>
          </a:p>
        </p:txBody>
      </p:sp>
      <p:sp>
        <p:nvSpPr>
          <p:cNvPr id="9" name="Rounded Rectangle 8"/>
          <p:cNvSpPr/>
          <p:nvPr/>
        </p:nvSpPr>
        <p:spPr>
          <a:xfrm>
            <a:off x="6217920" y="1463040"/>
            <a:ext cx="5394960" cy="4754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54480"/>
            <a:ext cx="51206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Asunciones y criterios</a:t>
            </a:r>
          </a:p>
        </p:txBody>
      </p:sp>
      <p:sp>
        <p:nvSpPr>
          <p:cNvPr id="11" name="TextBox 10"/>
          <p:cNvSpPr txBox="1"/>
          <p:nvPr/>
        </p:nvSpPr>
        <p:spPr>
          <a:xfrm>
            <a:off x="6355080" y="1965960"/>
            <a:ext cx="5120640" cy="4160520"/>
          </a:xfrm>
          <a:prstGeom prst="rect">
            <a:avLst/>
          </a:prstGeom>
          <a:noFill/>
        </p:spPr>
        <p:txBody>
          <a:bodyPr wrap="square" lIns="45720" rIns="45720">
            <a:spAutoFit/>
          </a:bodyPr>
          <a:lstStyle/>
          <a:p>
            <a:pPr>
              <a:lnSpc>
                <a:spcPct val="108000"/>
              </a:lnSpc>
              <a:spcAft>
                <a:spcPts val="400"/>
              </a:spcAft>
            </a:pPr>
            <a:r>
              <a:rPr sz="1400" b="1">
                <a:solidFill>
                  <a:srgbClr val="1B7F3B"/>
                </a:solidFill>
                <a:latin typeface="Calibri"/>
              </a:rPr>
              <a:t>• </a:t>
            </a:r>
            <a:r>
              <a:rPr b="1" sz="1400">
                <a:solidFill>
                  <a:srgbClr val="212121"/>
                </a:solidFill>
                <a:latin typeface="Calibri"/>
              </a:rPr>
              <a:t>Empresa y peers: </a:t>
            </a:r>
            <a:r>
              <a:rPr sz="1400">
                <a:solidFill>
                  <a:srgbClr val="212121"/>
                </a:solidFill>
                <a:latin typeface="Calibri"/>
              </a:rPr>
              <a:t>Deloitte vs. PwC, EY y KPMG (Big Four: mismo sector, mismos servicios, mismo talento).</a:t>
            </a:r>
          </a:p>
          <a:p>
            <a:pPr>
              <a:lnSpc>
                <a:spcPct val="108000"/>
              </a:lnSpc>
              <a:spcAft>
                <a:spcPts val="400"/>
              </a:spcAft>
            </a:pPr>
            <a:r>
              <a:rPr sz="1400" b="1">
                <a:solidFill>
                  <a:srgbClr val="1B7F3B"/>
                </a:solidFill>
                <a:latin typeface="Calibri"/>
              </a:rPr>
              <a:t>• </a:t>
            </a:r>
            <a:r>
              <a:rPr b="1" sz="1400">
                <a:solidFill>
                  <a:srgbClr val="212121"/>
                </a:solidFill>
                <a:latin typeface="Calibri"/>
              </a:rPr>
              <a:t>Muestra: </a:t>
            </a:r>
            <a:r>
              <a:rPr sz="1400">
                <a:solidFill>
                  <a:srgbClr val="212121"/>
                </a:solidFill>
                <a:latin typeface="Calibri"/>
              </a:rPr>
              <a:t>2.000 reseñas por firma con semilla 42 para los modelos; EDA sobre las 129.115 reseñas.</a:t>
            </a:r>
          </a:p>
          <a:p>
            <a:pPr>
              <a:lnSpc>
                <a:spcPct val="108000"/>
              </a:lnSpc>
              <a:spcAft>
                <a:spcPts val="400"/>
              </a:spcAft>
            </a:pPr>
            <a:r>
              <a:rPr sz="1400" b="1">
                <a:solidFill>
                  <a:srgbClr val="1B7F3B"/>
                </a:solidFill>
                <a:latin typeface="Calibri"/>
              </a:rPr>
              <a:t>• </a:t>
            </a:r>
            <a:r>
              <a:rPr b="1" sz="1400">
                <a:solidFill>
                  <a:srgbClr val="212121"/>
                </a:solidFill>
                <a:latin typeface="Calibri"/>
              </a:rPr>
              <a:t>Sin nulos en el fichero; </a:t>
            </a:r>
            <a:r>
              <a:rPr sz="1400">
                <a:solidFill>
                  <a:srgbClr val="212121"/>
                </a:solidFill>
                <a:latin typeface="Calibri"/>
              </a:rPr>
              <a:t>texto solo limpiado de espacios (los transformers aprovechan mayúsculas y puntuación).</a:t>
            </a:r>
          </a:p>
          <a:p>
            <a:pPr>
              <a:lnSpc>
                <a:spcPct val="108000"/>
              </a:lnSpc>
              <a:spcAft>
                <a:spcPts val="400"/>
              </a:spcAft>
            </a:pPr>
            <a:r>
              <a:rPr sz="1400" b="1">
                <a:solidFill>
                  <a:srgbClr val="1B7F3B"/>
                </a:solidFill>
                <a:latin typeface="Calibri"/>
              </a:rPr>
              <a:t>• </a:t>
            </a:r>
            <a:r>
              <a:rPr b="1" sz="1400">
                <a:solidFill>
                  <a:srgbClr val="212121"/>
                </a:solidFill>
                <a:latin typeface="Calibri"/>
              </a:rPr>
              <a:t>"% que recomienda": </a:t>
            </a:r>
            <a:r>
              <a:rPr sz="1400">
                <a:solidFill>
                  <a:srgbClr val="212121"/>
                </a:solidFill>
                <a:latin typeface="Calibri"/>
              </a:rPr>
              <a:t>sobre el total y, aparte, entre quienes opinan (el "sin opinión" sube del 35 % al 54 %).</a:t>
            </a:r>
          </a:p>
          <a:p>
            <a:pPr>
              <a:lnSpc>
                <a:spcPct val="108000"/>
              </a:lnSpc>
              <a:spcAft>
                <a:spcPts val="400"/>
              </a:spcAft>
            </a:pPr>
            <a:r>
              <a:rPr sz="1400" b="1">
                <a:solidFill>
                  <a:srgbClr val="1B7F3B"/>
                </a:solidFill>
                <a:latin typeface="Calibri"/>
              </a:rPr>
              <a:t>• </a:t>
            </a:r>
            <a:r>
              <a:rPr b="1" sz="1400">
                <a:solidFill>
                  <a:srgbClr val="212121"/>
                </a:solidFill>
                <a:latin typeface="Calibri"/>
              </a:rPr>
              <a:t>Reseñas vacías </a:t>
            </a:r>
            <a:r>
              <a:rPr sz="1400">
                <a:solidFill>
                  <a:srgbClr val="212121"/>
                </a:solidFill>
                <a:latin typeface="Calibri"/>
              </a:rPr>
              <a:t>("none", "nothing", "can't think of any") apartadas como categoría Sin contenido.</a:t>
            </a:r>
          </a:p>
          <a:p>
            <a:pPr>
              <a:lnSpc>
                <a:spcPct val="108000"/>
              </a:lnSpc>
              <a:spcAft>
                <a:spcPts val="400"/>
              </a:spcAft>
            </a:pPr>
            <a:r>
              <a:rPr sz="1400" b="1">
                <a:solidFill>
                  <a:srgbClr val="1B7F3B"/>
                </a:solidFill>
                <a:latin typeface="Calibri"/>
              </a:rPr>
              <a:t>• </a:t>
            </a:r>
            <a:r>
              <a:rPr b="1" sz="1400">
                <a:solidFill>
                  <a:srgbClr val="212121"/>
                </a:solidFill>
                <a:latin typeface="Calibri"/>
              </a:rPr>
              <a:t>Un único modelo de topics </a:t>
            </a:r>
            <a:r>
              <a:rPr sz="1400">
                <a:solidFill>
                  <a:srgbClr val="212121"/>
                </a:solidFill>
                <a:latin typeface="Calibri"/>
              </a:rPr>
              <a:t>para las 4 firmas (uno para pros, otro para cons): comparabilidad.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Datos: la empresa y sus peers</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Glassdoor Job Reviews 1 y 2 (D. Gauthier, Kaggle), preparado por el profesor · julio 2018 – julio 2023</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3</a:t>
            </a:r>
          </a:p>
        </p:txBody>
      </p:sp>
      <p:graphicFrame>
        <p:nvGraphicFramePr>
          <p:cNvPr id="6" name="Table 5"/>
          <p:cNvGraphicFramePr>
            <a:graphicFrameLocks noGrp="1"/>
          </p:cNvGraphicFramePr>
          <p:nvPr/>
        </p:nvGraphicFramePr>
        <p:xfrm>
          <a:off x="548640" y="1554480"/>
          <a:ext cx="11064240" cy="2103120"/>
        </p:xfrm>
        <a:graphic>
          <a:graphicData uri="http://schemas.openxmlformats.org/drawingml/2006/table">
            <a:tbl>
              <a:tblPr firstRow="1" bandRow="1">
                <a:tableStyleId>{5C22544A-7EE6-4342-B048-85BDC9FD1C3A}</a:tableStyleId>
              </a:tblPr>
              <a:tblGrid>
                <a:gridCol w="1463040"/>
                <a:gridCol w="1188720"/>
                <a:gridCol w="1371600"/>
                <a:gridCol w="1371600"/>
                <a:gridCol w="1828800"/>
                <a:gridCol w="2377440"/>
                <a:gridCol w="1463040"/>
              </a:tblGrid>
              <a:tr h="420624">
                <a:tc>
                  <a:txBody>
                    <a:bodyPr/>
                    <a:lstStyle/>
                    <a:p>
                      <a:r>
                        <a:rPr sz="1300" b="1">
                          <a:solidFill>
                            <a:srgbClr val="FFFFFF"/>
                          </a:solidFill>
                          <a:latin typeface="Calibri"/>
                        </a:rPr>
                        <a:t>Empresa</a:t>
                      </a:r>
                    </a:p>
                  </a:txBody>
                  <a:tcPr marL="54864" marR="54864" marT="27432" marB="27432" anchor="ctr">
                    <a:solidFill>
                      <a:srgbClr val="0F4D24"/>
                    </a:solidFill>
                  </a:tcPr>
                </a:tc>
                <a:tc>
                  <a:txBody>
                    <a:bodyPr/>
                    <a:lstStyle/>
                    <a:p>
                      <a:pPr algn="ctr"/>
                      <a:r>
                        <a:rPr sz="1300" b="1">
                          <a:solidFill>
                            <a:srgbClr val="FFFFFF"/>
                          </a:solidFill>
                          <a:latin typeface="Calibri"/>
                        </a:rPr>
                        <a:t>Reseñas</a:t>
                      </a:r>
                    </a:p>
                  </a:txBody>
                  <a:tcPr marL="54864" marR="54864" marT="27432" marB="27432" anchor="ctr">
                    <a:solidFill>
                      <a:srgbClr val="0F4D24"/>
                    </a:solidFill>
                  </a:tcPr>
                </a:tc>
                <a:tc>
                  <a:txBody>
                    <a:bodyPr/>
                    <a:lstStyle/>
                    <a:p>
                      <a:pPr algn="ctr"/>
                      <a:r>
                        <a:rPr sz="1300" b="1">
                          <a:solidFill>
                            <a:srgbClr val="FFFFFF"/>
                          </a:solidFill>
                          <a:latin typeface="Calibri"/>
                        </a:rPr>
                        <a:t>Rating medio</a:t>
                      </a:r>
                    </a:p>
                  </a:txBody>
                  <a:tcPr marL="54864" marR="54864" marT="27432" marB="27432" anchor="ctr">
                    <a:solidFill>
                      <a:srgbClr val="0F4D24"/>
                    </a:solidFill>
                  </a:tcPr>
                </a:tc>
                <a:tc>
                  <a:txBody>
                    <a:bodyPr/>
                    <a:lstStyle/>
                    <a:p>
                      <a:pPr algn="ctr"/>
                      <a:r>
                        <a:rPr sz="1300" b="1">
                          <a:solidFill>
                            <a:srgbClr val="FFFFFF"/>
                          </a:solidFill>
                          <a:latin typeface="Calibri"/>
                        </a:rPr>
                        <a:t>% rating 1-2</a:t>
                      </a:r>
                    </a:p>
                  </a:txBody>
                  <a:tcPr marL="54864" marR="54864" marT="27432" marB="27432" anchor="ctr">
                    <a:solidFill>
                      <a:srgbClr val="0F4D24"/>
                    </a:solidFill>
                  </a:tcPr>
                </a:tc>
                <a:tc>
                  <a:txBody>
                    <a:bodyPr/>
                    <a:lstStyle/>
                    <a:p>
                      <a:pPr algn="ctr"/>
                      <a:r>
                        <a:rPr sz="1300" b="1">
                          <a:solidFill>
                            <a:srgbClr val="FFFFFF"/>
                          </a:solidFill>
                          <a:latin typeface="Calibri"/>
                        </a:rPr>
                        <a:t>% recomienda (total)</a:t>
                      </a:r>
                    </a:p>
                  </a:txBody>
                  <a:tcPr marL="54864" marR="54864" marT="27432" marB="27432" anchor="ctr">
                    <a:solidFill>
                      <a:srgbClr val="0F4D24"/>
                    </a:solidFill>
                  </a:tcPr>
                </a:tc>
                <a:tc>
                  <a:txBody>
                    <a:bodyPr/>
                    <a:lstStyle/>
                    <a:p>
                      <a:pPr algn="ctr"/>
                      <a:r>
                        <a:rPr sz="1300" b="1">
                          <a:solidFill>
                            <a:srgbClr val="FFFFFF"/>
                          </a:solidFill>
                          <a:latin typeface="Calibri"/>
                        </a:rPr>
                        <a:t>% recomienda (entre quienes opinan)</a:t>
                      </a:r>
                    </a:p>
                  </a:txBody>
                  <a:tcPr marL="54864" marR="54864" marT="27432" marB="27432" anchor="ctr">
                    <a:solidFill>
                      <a:srgbClr val="0F4D24"/>
                    </a:solidFill>
                  </a:tcPr>
                </a:tc>
                <a:tc>
                  <a:txBody>
                    <a:bodyPr/>
                    <a:lstStyle/>
                    <a:p>
                      <a:pPr algn="ctr"/>
                      <a:r>
                        <a:rPr sz="1300" b="1">
                          <a:solidFill>
                            <a:srgbClr val="FFFFFF"/>
                          </a:solidFill>
                          <a:latin typeface="Calibri"/>
                        </a:rPr>
                        <a:t>% empleados actuales</a:t>
                      </a:r>
                    </a:p>
                  </a:txBody>
                  <a:tcPr marL="54864" marR="54864" marT="27432" marB="27432" anchor="ctr">
                    <a:solidFill>
                      <a:srgbClr val="0F4D24"/>
                    </a:solidFill>
                  </a:tcPr>
                </a:tc>
              </a:tr>
              <a:tr h="420624">
                <a:tc>
                  <a:txBody>
                    <a:bodyPr/>
                    <a:lstStyle/>
                    <a:p>
                      <a:r>
                        <a:rPr sz="1300" b="1">
                          <a:solidFill>
                            <a:srgbClr val="212121"/>
                          </a:solidFill>
                          <a:latin typeface="Calibri"/>
                        </a:rPr>
                        <a:t>Deloitte</a:t>
                      </a:r>
                    </a:p>
                  </a:txBody>
                  <a:tcPr marL="54864" marR="54864" marT="27432" marB="27432" anchor="ctr">
                    <a:solidFill>
                      <a:srgbClr val="FFFFFF"/>
                    </a:solidFill>
                  </a:tcPr>
                </a:tc>
                <a:tc>
                  <a:txBody>
                    <a:bodyPr/>
                    <a:lstStyle/>
                    <a:p>
                      <a:pPr algn="ctr"/>
                      <a:r>
                        <a:rPr sz="1300" b="0">
                          <a:solidFill>
                            <a:srgbClr val="212121"/>
                          </a:solidFill>
                          <a:latin typeface="Calibri"/>
                        </a:rPr>
                        <a:t>40.199</a:t>
                      </a:r>
                    </a:p>
                  </a:txBody>
                  <a:tcPr marL="54864" marR="54864" marT="27432" marB="27432" anchor="ctr">
                    <a:solidFill>
                      <a:srgbClr val="FFFFFF"/>
                    </a:solidFill>
                  </a:tcPr>
                </a:tc>
                <a:tc>
                  <a:txBody>
                    <a:bodyPr/>
                    <a:lstStyle/>
                    <a:p>
                      <a:pPr algn="ctr"/>
                      <a:r>
                        <a:rPr sz="1300" b="0">
                          <a:solidFill>
                            <a:srgbClr val="212121"/>
                          </a:solidFill>
                          <a:latin typeface="Calibri"/>
                        </a:rPr>
                        <a:t>3,90</a:t>
                      </a:r>
                    </a:p>
                  </a:txBody>
                  <a:tcPr marL="54864" marR="54864" marT="27432" marB="27432" anchor="ctr">
                    <a:solidFill>
                      <a:srgbClr val="FFFFFF"/>
                    </a:solidFill>
                  </a:tcPr>
                </a:tc>
                <a:tc>
                  <a:txBody>
                    <a:bodyPr/>
                    <a:lstStyle/>
                    <a:p>
                      <a:pPr algn="ctr"/>
                      <a:r>
                        <a:rPr sz="1300" b="0">
                          <a:solidFill>
                            <a:srgbClr val="212121"/>
                          </a:solidFill>
                          <a:latin typeface="Calibri"/>
                        </a:rPr>
                        <a:t>8,9 %</a:t>
                      </a:r>
                    </a:p>
                  </a:txBody>
                  <a:tcPr marL="54864" marR="54864" marT="27432" marB="27432" anchor="ctr">
                    <a:solidFill>
                      <a:srgbClr val="FFFFFF"/>
                    </a:solidFill>
                  </a:tcPr>
                </a:tc>
                <a:tc>
                  <a:txBody>
                    <a:bodyPr/>
                    <a:lstStyle/>
                    <a:p>
                      <a:pPr algn="ctr"/>
                      <a:r>
                        <a:rPr sz="1300" b="0">
                          <a:solidFill>
                            <a:srgbClr val="212121"/>
                          </a:solidFill>
                          <a:latin typeface="Calibri"/>
                        </a:rPr>
                        <a:t>46,2 %</a:t>
                      </a:r>
                    </a:p>
                  </a:txBody>
                  <a:tcPr marL="54864" marR="54864" marT="27432" marB="27432" anchor="ctr">
                    <a:solidFill>
                      <a:srgbClr val="FFFFFF"/>
                    </a:solidFill>
                  </a:tcPr>
                </a:tc>
                <a:tc>
                  <a:txBody>
                    <a:bodyPr/>
                    <a:lstStyle/>
                    <a:p>
                      <a:pPr algn="ctr"/>
                      <a:r>
                        <a:rPr sz="1300" b="0">
                          <a:solidFill>
                            <a:srgbClr val="212121"/>
                          </a:solidFill>
                          <a:latin typeface="Calibri"/>
                        </a:rPr>
                        <a:t>≈79 %</a:t>
                      </a:r>
                    </a:p>
                  </a:txBody>
                  <a:tcPr marL="54864" marR="54864" marT="27432" marB="27432" anchor="ctr">
                    <a:solidFill>
                      <a:srgbClr val="FFFFFF"/>
                    </a:solidFill>
                  </a:tcPr>
                </a:tc>
                <a:tc>
                  <a:txBody>
                    <a:bodyPr/>
                    <a:lstStyle/>
                    <a:p>
                      <a:pPr algn="ctr"/>
                      <a:r>
                        <a:rPr sz="1300" b="0">
                          <a:solidFill>
                            <a:srgbClr val="212121"/>
                          </a:solidFill>
                          <a:latin typeface="Calibri"/>
                        </a:rPr>
                        <a:t>70,0 %</a:t>
                      </a:r>
                    </a:p>
                  </a:txBody>
                  <a:tcPr marL="54864" marR="54864" marT="27432" marB="27432" anchor="ctr">
                    <a:solidFill>
                      <a:srgbClr val="FFFFFF"/>
                    </a:solidFill>
                  </a:tcPr>
                </a:tc>
              </a:tr>
              <a:tr h="420624">
                <a:tc>
                  <a:txBody>
                    <a:bodyPr/>
                    <a:lstStyle/>
                    <a:p>
                      <a:r>
                        <a:rPr sz="1300" b="1">
                          <a:solidFill>
                            <a:srgbClr val="212121"/>
                          </a:solidFill>
                          <a:latin typeface="Calibri"/>
                        </a:rPr>
                        <a:t>PwC</a:t>
                      </a:r>
                    </a:p>
                  </a:txBody>
                  <a:tcPr marL="54864" marR="54864" marT="27432" marB="27432" anchor="ctr">
                    <a:solidFill>
                      <a:srgbClr val="F2F2F2"/>
                    </a:solidFill>
                  </a:tcPr>
                </a:tc>
                <a:tc>
                  <a:txBody>
                    <a:bodyPr/>
                    <a:lstStyle/>
                    <a:p>
                      <a:pPr algn="ctr"/>
                      <a:r>
                        <a:rPr sz="1300" b="0">
                          <a:solidFill>
                            <a:srgbClr val="212121"/>
                          </a:solidFill>
                          <a:latin typeface="Calibri"/>
                        </a:rPr>
                        <a:t>33.558</a:t>
                      </a:r>
                    </a:p>
                  </a:txBody>
                  <a:tcPr marL="54864" marR="54864" marT="27432" marB="27432" anchor="ctr">
                    <a:solidFill>
                      <a:srgbClr val="F2F2F2"/>
                    </a:solidFill>
                  </a:tcPr>
                </a:tc>
                <a:tc>
                  <a:txBody>
                    <a:bodyPr/>
                    <a:lstStyle/>
                    <a:p>
                      <a:pPr algn="ctr"/>
                      <a:r>
                        <a:rPr sz="1300" b="0">
                          <a:solidFill>
                            <a:srgbClr val="212121"/>
                          </a:solidFill>
                          <a:latin typeface="Calibri"/>
                        </a:rPr>
                        <a:t>3,87</a:t>
                      </a:r>
                    </a:p>
                  </a:txBody>
                  <a:tcPr marL="54864" marR="54864" marT="27432" marB="27432" anchor="ctr">
                    <a:solidFill>
                      <a:srgbClr val="F2F2F2"/>
                    </a:solidFill>
                  </a:tcPr>
                </a:tc>
                <a:tc>
                  <a:txBody>
                    <a:bodyPr/>
                    <a:lstStyle/>
                    <a:p>
                      <a:pPr algn="ctr"/>
                      <a:r>
                        <a:rPr sz="1300" b="0">
                          <a:solidFill>
                            <a:srgbClr val="212121"/>
                          </a:solidFill>
                          <a:latin typeface="Calibri"/>
                        </a:rPr>
                        <a:t>9,2 %</a:t>
                      </a:r>
                    </a:p>
                  </a:txBody>
                  <a:tcPr marL="54864" marR="54864" marT="27432" marB="27432" anchor="ctr">
                    <a:solidFill>
                      <a:srgbClr val="F2F2F2"/>
                    </a:solidFill>
                  </a:tcPr>
                </a:tc>
                <a:tc>
                  <a:txBody>
                    <a:bodyPr/>
                    <a:lstStyle/>
                    <a:p>
                      <a:pPr algn="ctr"/>
                      <a:r>
                        <a:rPr sz="1300" b="0">
                          <a:solidFill>
                            <a:srgbClr val="212121"/>
                          </a:solidFill>
                          <a:latin typeface="Calibri"/>
                        </a:rPr>
                        <a:t>39,1 %</a:t>
                      </a:r>
                    </a:p>
                  </a:txBody>
                  <a:tcPr marL="54864" marR="54864" marT="27432" marB="27432" anchor="ctr">
                    <a:solidFill>
                      <a:srgbClr val="F2F2F2"/>
                    </a:solidFill>
                  </a:tcPr>
                </a:tc>
                <a:tc>
                  <a:txBody>
                    <a:bodyPr/>
                    <a:lstStyle/>
                    <a:p>
                      <a:pPr algn="ctr"/>
                      <a:r>
                        <a:rPr sz="1300" b="0">
                          <a:solidFill>
                            <a:srgbClr val="212121"/>
                          </a:solidFill>
                          <a:latin typeface="Calibri"/>
                        </a:rPr>
                        <a:t>≈78 %</a:t>
                      </a:r>
                    </a:p>
                  </a:txBody>
                  <a:tcPr marL="54864" marR="54864" marT="27432" marB="27432" anchor="ctr">
                    <a:solidFill>
                      <a:srgbClr val="F2F2F2"/>
                    </a:solidFill>
                  </a:tcPr>
                </a:tc>
                <a:tc>
                  <a:txBody>
                    <a:bodyPr/>
                    <a:lstStyle/>
                    <a:p>
                      <a:pPr algn="ctr"/>
                      <a:r>
                        <a:rPr sz="1300" b="0">
                          <a:solidFill>
                            <a:srgbClr val="212121"/>
                          </a:solidFill>
                          <a:latin typeface="Calibri"/>
                        </a:rPr>
                        <a:t>64,7 %</a:t>
                      </a:r>
                    </a:p>
                  </a:txBody>
                  <a:tcPr marL="54864" marR="54864" marT="27432" marB="27432" anchor="ctr">
                    <a:solidFill>
                      <a:srgbClr val="F2F2F2"/>
                    </a:solidFill>
                  </a:tcPr>
                </a:tc>
              </a:tr>
              <a:tr h="420624">
                <a:tc>
                  <a:txBody>
                    <a:bodyPr/>
                    <a:lstStyle/>
                    <a:p>
                      <a:r>
                        <a:rPr sz="1300" b="1">
                          <a:solidFill>
                            <a:srgbClr val="212121"/>
                          </a:solidFill>
                          <a:latin typeface="Calibri"/>
                        </a:rPr>
                        <a:t>EY</a:t>
                      </a:r>
                    </a:p>
                  </a:txBody>
                  <a:tcPr marL="54864" marR="54864" marT="27432" marB="27432" anchor="ctr">
                    <a:solidFill>
                      <a:srgbClr val="FFFFFF"/>
                    </a:solidFill>
                  </a:tcPr>
                </a:tc>
                <a:tc>
                  <a:txBody>
                    <a:bodyPr/>
                    <a:lstStyle/>
                    <a:p>
                      <a:pPr algn="ctr"/>
                      <a:r>
                        <a:rPr sz="1300" b="0">
                          <a:solidFill>
                            <a:srgbClr val="212121"/>
                          </a:solidFill>
                          <a:latin typeface="Calibri"/>
                        </a:rPr>
                        <a:t>29.601</a:t>
                      </a:r>
                    </a:p>
                  </a:txBody>
                  <a:tcPr marL="54864" marR="54864" marT="27432" marB="27432" anchor="ctr">
                    <a:solidFill>
                      <a:srgbClr val="FFFFFF"/>
                    </a:solidFill>
                  </a:tcPr>
                </a:tc>
                <a:tc>
                  <a:txBody>
                    <a:bodyPr/>
                    <a:lstStyle/>
                    <a:p>
                      <a:pPr algn="ctr"/>
                      <a:r>
                        <a:rPr sz="1300" b="0">
                          <a:solidFill>
                            <a:srgbClr val="212121"/>
                          </a:solidFill>
                          <a:latin typeface="Calibri"/>
                        </a:rPr>
                        <a:t>3,78</a:t>
                      </a:r>
                    </a:p>
                  </a:txBody>
                  <a:tcPr marL="54864" marR="54864" marT="27432" marB="27432" anchor="ctr">
                    <a:solidFill>
                      <a:srgbClr val="FFFFFF"/>
                    </a:solidFill>
                  </a:tcPr>
                </a:tc>
                <a:tc>
                  <a:txBody>
                    <a:bodyPr/>
                    <a:lstStyle/>
                    <a:p>
                      <a:pPr algn="ctr"/>
                      <a:r>
                        <a:rPr sz="1300" b="0">
                          <a:solidFill>
                            <a:srgbClr val="212121"/>
                          </a:solidFill>
                          <a:latin typeface="Calibri"/>
                        </a:rPr>
                        <a:t>10,6 %</a:t>
                      </a:r>
                    </a:p>
                  </a:txBody>
                  <a:tcPr marL="54864" marR="54864" marT="27432" marB="27432" anchor="ctr">
                    <a:solidFill>
                      <a:srgbClr val="FFFFFF"/>
                    </a:solidFill>
                  </a:tcPr>
                </a:tc>
                <a:tc>
                  <a:txBody>
                    <a:bodyPr/>
                    <a:lstStyle/>
                    <a:p>
                      <a:pPr algn="ctr"/>
                      <a:r>
                        <a:rPr sz="1300" b="0">
                          <a:solidFill>
                            <a:srgbClr val="212121"/>
                          </a:solidFill>
                          <a:latin typeface="Calibri"/>
                        </a:rPr>
                        <a:t>47,0 %</a:t>
                      </a:r>
                    </a:p>
                  </a:txBody>
                  <a:tcPr marL="54864" marR="54864" marT="27432" marB="27432" anchor="ctr">
                    <a:solidFill>
                      <a:srgbClr val="FFFFFF"/>
                    </a:solidFill>
                  </a:tcPr>
                </a:tc>
                <a:tc>
                  <a:txBody>
                    <a:bodyPr/>
                    <a:lstStyle/>
                    <a:p>
                      <a:pPr algn="ctr"/>
                      <a:r>
                        <a:rPr sz="1300" b="0">
                          <a:solidFill>
                            <a:srgbClr val="212121"/>
                          </a:solidFill>
                          <a:latin typeface="Calibri"/>
                        </a:rPr>
                        <a:t>≈76 %</a:t>
                      </a:r>
                    </a:p>
                  </a:txBody>
                  <a:tcPr marL="54864" marR="54864" marT="27432" marB="27432" anchor="ctr">
                    <a:solidFill>
                      <a:srgbClr val="FFFFFF"/>
                    </a:solidFill>
                  </a:tcPr>
                </a:tc>
                <a:tc>
                  <a:txBody>
                    <a:bodyPr/>
                    <a:lstStyle/>
                    <a:p>
                      <a:pPr algn="ctr"/>
                      <a:r>
                        <a:rPr sz="1300" b="0">
                          <a:solidFill>
                            <a:srgbClr val="212121"/>
                          </a:solidFill>
                          <a:latin typeface="Calibri"/>
                        </a:rPr>
                        <a:t>68,8 %</a:t>
                      </a:r>
                    </a:p>
                  </a:txBody>
                  <a:tcPr marL="54864" marR="54864" marT="27432" marB="27432" anchor="ctr">
                    <a:solidFill>
                      <a:srgbClr val="FFFFFF"/>
                    </a:solidFill>
                  </a:tcPr>
                </a:tc>
              </a:tr>
              <a:tr h="420624">
                <a:tc>
                  <a:txBody>
                    <a:bodyPr/>
                    <a:lstStyle/>
                    <a:p>
                      <a:r>
                        <a:rPr sz="1300" b="1">
                          <a:solidFill>
                            <a:srgbClr val="212121"/>
                          </a:solidFill>
                          <a:latin typeface="Calibri"/>
                        </a:rPr>
                        <a:t>KPMG</a:t>
                      </a:r>
                    </a:p>
                  </a:txBody>
                  <a:tcPr marL="54864" marR="54864" marT="27432" marB="27432" anchor="ctr">
                    <a:solidFill>
                      <a:srgbClr val="F2F2F2"/>
                    </a:solidFill>
                  </a:tcPr>
                </a:tc>
                <a:tc>
                  <a:txBody>
                    <a:bodyPr/>
                    <a:lstStyle/>
                    <a:p>
                      <a:pPr algn="ctr"/>
                      <a:r>
                        <a:rPr sz="1300" b="0">
                          <a:solidFill>
                            <a:srgbClr val="212121"/>
                          </a:solidFill>
                          <a:latin typeface="Calibri"/>
                        </a:rPr>
                        <a:t>25.757</a:t>
                      </a:r>
                    </a:p>
                  </a:txBody>
                  <a:tcPr marL="54864" marR="54864" marT="27432" marB="27432" anchor="ctr">
                    <a:solidFill>
                      <a:srgbClr val="F2F2F2"/>
                    </a:solidFill>
                  </a:tcPr>
                </a:tc>
                <a:tc>
                  <a:txBody>
                    <a:bodyPr/>
                    <a:lstStyle/>
                    <a:p>
                      <a:pPr algn="ctr"/>
                      <a:r>
                        <a:rPr sz="1300" b="0">
                          <a:solidFill>
                            <a:srgbClr val="212121"/>
                          </a:solidFill>
                          <a:latin typeface="Calibri"/>
                        </a:rPr>
                        <a:t>3,75</a:t>
                      </a:r>
                    </a:p>
                  </a:txBody>
                  <a:tcPr marL="54864" marR="54864" marT="27432" marB="27432" anchor="ctr">
                    <a:solidFill>
                      <a:srgbClr val="F2F2F2"/>
                    </a:solidFill>
                  </a:tcPr>
                </a:tc>
                <a:tc>
                  <a:txBody>
                    <a:bodyPr/>
                    <a:lstStyle/>
                    <a:p>
                      <a:pPr algn="ctr"/>
                      <a:r>
                        <a:rPr sz="1300" b="0">
                          <a:solidFill>
                            <a:srgbClr val="212121"/>
                          </a:solidFill>
                          <a:latin typeface="Calibri"/>
                        </a:rPr>
                        <a:t>11,1 %</a:t>
                      </a:r>
                    </a:p>
                  </a:txBody>
                  <a:tcPr marL="54864" marR="54864" marT="27432" marB="27432" anchor="ctr">
                    <a:solidFill>
                      <a:srgbClr val="F2F2F2"/>
                    </a:solidFill>
                  </a:tcPr>
                </a:tc>
                <a:tc>
                  <a:txBody>
                    <a:bodyPr/>
                    <a:lstStyle/>
                    <a:p>
                      <a:pPr algn="ctr"/>
                      <a:r>
                        <a:rPr sz="1300" b="0">
                          <a:solidFill>
                            <a:srgbClr val="212121"/>
                          </a:solidFill>
                          <a:latin typeface="Calibri"/>
                        </a:rPr>
                        <a:t>38,9 %</a:t>
                      </a:r>
                    </a:p>
                  </a:txBody>
                  <a:tcPr marL="54864" marR="54864" marT="27432" marB="27432" anchor="ctr">
                    <a:solidFill>
                      <a:srgbClr val="F2F2F2"/>
                    </a:solidFill>
                  </a:tcPr>
                </a:tc>
                <a:tc>
                  <a:txBody>
                    <a:bodyPr/>
                    <a:lstStyle/>
                    <a:p>
                      <a:pPr algn="ctr"/>
                      <a:r>
                        <a:rPr sz="1300" b="0">
                          <a:solidFill>
                            <a:srgbClr val="212121"/>
                          </a:solidFill>
                          <a:latin typeface="Calibri"/>
                        </a:rPr>
                        <a:t>≈74 %</a:t>
                      </a:r>
                    </a:p>
                  </a:txBody>
                  <a:tcPr marL="54864" marR="54864" marT="27432" marB="27432" anchor="ctr">
                    <a:solidFill>
                      <a:srgbClr val="F2F2F2"/>
                    </a:solidFill>
                  </a:tcPr>
                </a:tc>
                <a:tc>
                  <a:txBody>
                    <a:bodyPr/>
                    <a:lstStyle/>
                    <a:p>
                      <a:pPr algn="ctr"/>
                      <a:r>
                        <a:rPr sz="1300" b="0">
                          <a:solidFill>
                            <a:srgbClr val="212121"/>
                          </a:solidFill>
                          <a:latin typeface="Calibri"/>
                        </a:rPr>
                        <a:t>64,4 %</a:t>
                      </a:r>
                    </a:p>
                  </a:txBody>
                  <a:tcPr marL="54864" marR="54864" marT="27432" marB="27432" anchor="ctr">
                    <a:solidFill>
                      <a:srgbClr val="F2F2F2"/>
                    </a:solidFill>
                  </a:tcPr>
                </a:tc>
              </a:tr>
            </a:tbl>
          </a:graphicData>
        </a:graphic>
      </p:graphicFrame>
      <p:sp>
        <p:nvSpPr>
          <p:cNvPr id="7" name="Rounded Rectangle 6"/>
          <p:cNvSpPr/>
          <p:nvPr/>
        </p:nvSpPr>
        <p:spPr>
          <a:xfrm>
            <a:off x="548640" y="4023360"/>
            <a:ext cx="5394960" cy="219456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114800"/>
            <a:ext cx="51206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¿Por qué estos peers?</a:t>
            </a:r>
          </a:p>
        </p:txBody>
      </p:sp>
      <p:sp>
        <p:nvSpPr>
          <p:cNvPr id="9" name="TextBox 8"/>
          <p:cNvSpPr txBox="1"/>
          <p:nvPr/>
        </p:nvSpPr>
        <p:spPr>
          <a:xfrm>
            <a:off x="685800" y="4526280"/>
            <a:ext cx="5120640" cy="1600200"/>
          </a:xfrm>
          <a:prstGeom prst="rect">
            <a:avLst/>
          </a:prstGeom>
          <a:noFill/>
        </p:spPr>
        <p:txBody>
          <a:bodyPr wrap="square" anchor="t" lIns="45720" rIns="45720">
            <a:spAutoFit/>
          </a:bodyPr>
          <a:lstStyle/>
          <a:p>
            <a:pPr algn="l">
              <a:lnSpc>
                <a:spcPct val="110000"/>
              </a:lnSpc>
            </a:pPr>
            <a:r>
              <a:rPr sz="1400" b="0" i="0">
                <a:solidFill>
                  <a:srgbClr val="212121"/>
                </a:solidFill>
                <a:latin typeface="Calibri"/>
              </a:rPr>
              <a:t>Las cuatro Big Four reclutan en los mismos campus y programas de graduados, ofrecen los mismos servicios (auditoría, fiscal, consultoría, advisory) y compiten por el mismo perfil: auditores, consultores, analistas y tecnología. La lista del profesor las clasifica en el mismo sector y todas superan ampliamente las 300 reseñas.</a:t>
            </a:r>
          </a:p>
        </p:txBody>
      </p:sp>
      <p:sp>
        <p:nvSpPr>
          <p:cNvPr id="10" name="Rounded Rectangle 9"/>
          <p:cNvSpPr/>
          <p:nvPr/>
        </p:nvSpPr>
        <p:spPr>
          <a:xfrm>
            <a:off x="6217920" y="4023360"/>
            <a:ext cx="5394960" cy="2194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114800"/>
            <a:ext cx="51206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Variables</a:t>
            </a:r>
          </a:p>
        </p:txBody>
      </p:sp>
      <p:sp>
        <p:nvSpPr>
          <p:cNvPr id="12" name="TextBox 11"/>
          <p:cNvSpPr txBox="1"/>
          <p:nvPr/>
        </p:nvSpPr>
        <p:spPr>
          <a:xfrm>
            <a:off x="6355080" y="4526280"/>
            <a:ext cx="5120640" cy="1600200"/>
          </a:xfrm>
          <a:prstGeom prst="rect">
            <a:avLst/>
          </a:prstGeom>
          <a:noFill/>
        </p:spPr>
        <p:txBody>
          <a:bodyPr wrap="square" lIns="45720" rIns="45720">
            <a:spAutoFit/>
          </a:bodyPr>
          <a:lstStyle/>
          <a:p>
            <a:pPr>
              <a:lnSpc>
                <a:spcPct val="108000"/>
              </a:lnSpc>
              <a:spcAft>
                <a:spcPts val="400"/>
              </a:spcAft>
            </a:pPr>
            <a:r>
              <a:rPr sz="1400" b="1">
                <a:solidFill>
                  <a:srgbClr val="1B7F3B"/>
                </a:solidFill>
                <a:latin typeface="Calibri"/>
              </a:rPr>
              <a:t>• </a:t>
            </a:r>
            <a:r>
              <a:rPr b="1" sz="1400">
                <a:solidFill>
                  <a:srgbClr val="212121"/>
                </a:solidFill>
                <a:latin typeface="Calibri"/>
              </a:rPr>
              <a:t>firm, date_review: </a:t>
            </a:r>
            <a:r>
              <a:rPr sz="1400">
                <a:solidFill>
                  <a:srgbClr val="212121"/>
                </a:solidFill>
                <a:latin typeface="Calibri"/>
              </a:rPr>
              <a:t>empresa y fecha.</a:t>
            </a:r>
          </a:p>
          <a:p>
            <a:pPr>
              <a:lnSpc>
                <a:spcPct val="108000"/>
              </a:lnSpc>
              <a:spcAft>
                <a:spcPts val="400"/>
              </a:spcAft>
            </a:pPr>
            <a:r>
              <a:rPr sz="1400" b="1">
                <a:solidFill>
                  <a:srgbClr val="1B7F3B"/>
                </a:solidFill>
                <a:latin typeface="Calibri"/>
              </a:rPr>
              <a:t>• </a:t>
            </a:r>
            <a:r>
              <a:rPr b="1" sz="1400">
                <a:solidFill>
                  <a:srgbClr val="212121"/>
                </a:solidFill>
                <a:latin typeface="Calibri"/>
              </a:rPr>
              <a:t>current → </a:t>
            </a:r>
            <a:r>
              <a:rPr sz="1400">
                <a:solidFill>
                  <a:srgbClr val="212121"/>
                </a:solidFill>
                <a:latin typeface="Calibri"/>
              </a:rPr>
              <a:t>situación (actual/antiguo) y antigüedad.</a:t>
            </a:r>
          </a:p>
          <a:p>
            <a:pPr>
              <a:lnSpc>
                <a:spcPct val="108000"/>
              </a:lnSpc>
              <a:spcAft>
                <a:spcPts val="400"/>
              </a:spcAft>
            </a:pPr>
            <a:r>
              <a:rPr sz="1400" b="1">
                <a:solidFill>
                  <a:srgbClr val="1B7F3B"/>
                </a:solidFill>
                <a:latin typeface="Calibri"/>
              </a:rPr>
              <a:t>• </a:t>
            </a:r>
            <a:r>
              <a:rPr b="1" sz="1400">
                <a:solidFill>
                  <a:srgbClr val="212121"/>
                </a:solidFill>
                <a:latin typeface="Calibri"/>
              </a:rPr>
              <a:t>overall_rating (1-5), recommend </a:t>
            </a:r>
            <a:r>
              <a:rPr sz="1400">
                <a:solidFill>
                  <a:srgbClr val="212121"/>
                </a:solidFill>
                <a:latin typeface="Calibri"/>
              </a:rPr>
              <a:t>(sí / sin opinión / no).</a:t>
            </a:r>
          </a:p>
          <a:p>
            <a:pPr>
              <a:lnSpc>
                <a:spcPct val="108000"/>
              </a:lnSpc>
              <a:spcAft>
                <a:spcPts val="400"/>
              </a:spcAft>
            </a:pPr>
            <a:r>
              <a:rPr sz="1400" b="1">
                <a:solidFill>
                  <a:srgbClr val="1B7F3B"/>
                </a:solidFill>
                <a:latin typeface="Calibri"/>
              </a:rPr>
              <a:t>• </a:t>
            </a:r>
            <a:r>
              <a:rPr b="1" sz="1400">
                <a:solidFill>
                  <a:srgbClr val="212121"/>
                </a:solidFill>
                <a:latin typeface="Calibri"/>
              </a:rPr>
              <a:t>pros, cons: </a:t>
            </a:r>
            <a:r>
              <a:rPr sz="1400">
                <a:solidFill>
                  <a:srgbClr val="212121"/>
                </a:solidFill>
                <a:latin typeface="Calibri"/>
              </a:rPr>
              <a:t>texto libre en inglés (mediana ≈ 8 palabras).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Insights · Deloitte es la Big Four mejor valorada</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EDA sobre las 129.115 reseñas de las cuatro firmas</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4</a:t>
            </a:r>
          </a:p>
        </p:txBody>
      </p:sp>
      <p:pic>
        <p:nvPicPr>
          <p:cNvPr id="6" name="Picture 5" descr="01_eda_resumen_empresas.png"/>
          <p:cNvPicPr>
            <a:picLocks noChangeAspect="1"/>
          </p:cNvPicPr>
          <p:nvPr/>
        </p:nvPicPr>
        <p:blipFill>
          <a:blip r:embed="rId2"/>
          <a:stretch>
            <a:fillRect/>
          </a:stretch>
        </p:blipFill>
        <p:spPr>
          <a:xfrm>
            <a:off x="548640" y="1402261"/>
            <a:ext cx="11064240" cy="3139076"/>
          </a:xfrm>
          <a:prstGeom prst="rect">
            <a:avLst/>
          </a:prstGeom>
        </p:spPr>
      </p:pic>
      <p:sp>
        <p:nvSpPr>
          <p:cNvPr id="7" name="TextBox 6"/>
          <p:cNvSpPr txBox="1"/>
          <p:nvPr/>
        </p:nvSpPr>
        <p:spPr>
          <a:xfrm>
            <a:off x="548640" y="4709160"/>
            <a:ext cx="11064240" cy="1600200"/>
          </a:xfrm>
          <a:prstGeom prst="rect">
            <a:avLst/>
          </a:prstGeom>
          <a:noFill/>
        </p:spPr>
        <p:txBody>
          <a:bodyPr wrap="square" lIns="45720" rIns="45720">
            <a:spAutoFit/>
          </a:bodyPr>
          <a:lstStyle/>
          <a:p>
            <a:pPr>
              <a:lnSpc>
                <a:spcPct val="108000"/>
              </a:lnSpc>
              <a:spcAft>
                <a:spcPts val="600"/>
              </a:spcAft>
            </a:pPr>
            <a:r>
              <a:rPr sz="1400" b="1">
                <a:solidFill>
                  <a:srgbClr val="1B7F3B"/>
                </a:solidFill>
                <a:latin typeface="Calibri"/>
              </a:rPr>
              <a:t>• </a:t>
            </a:r>
            <a:r>
              <a:rPr b="1" sz="1400">
                <a:solidFill>
                  <a:srgbClr val="212121"/>
                </a:solidFill>
                <a:latin typeface="Calibri"/>
              </a:rPr>
              <a:t>Mejor rating del grupo (3,90 vs. 3,80 de media de peers) </a:t>
            </a:r>
            <a:r>
              <a:rPr sz="1400">
                <a:solidFill>
                  <a:srgbClr val="212121"/>
                </a:solidFill>
                <a:latin typeface="Calibri"/>
              </a:rPr>
              <a:t>y el menor porcentaje de reseñas de 1-2 estrellas (8,9 % vs. 10,3 %).</a:t>
            </a:r>
          </a:p>
          <a:p>
            <a:pPr>
              <a:lnSpc>
                <a:spcPct val="108000"/>
              </a:lnSpc>
              <a:spcAft>
                <a:spcPts val="600"/>
              </a:spcAft>
            </a:pPr>
            <a:r>
              <a:rPr sz="1400" b="1">
                <a:solidFill>
                  <a:srgbClr val="1B7F3B"/>
                </a:solidFill>
                <a:latin typeface="Calibri"/>
              </a:rPr>
              <a:t>• </a:t>
            </a:r>
            <a:r>
              <a:rPr b="1" sz="1400">
                <a:solidFill>
                  <a:srgbClr val="212121"/>
                </a:solidFill>
                <a:latin typeface="Calibri"/>
              </a:rPr>
              <a:t>Segunda en recomendación sobre el total (46 %, tras EY) y primera entre quienes opinan (≈79 %). </a:t>
            </a:r>
            <a:r>
              <a:rPr sz="1400">
                <a:solidFill>
                  <a:srgbClr val="212121"/>
                </a:solidFill>
                <a:latin typeface="Calibri"/>
              </a:rPr>
              <a:t>El 70 % de sus reseñas son de empleados actuales.</a:t>
            </a:r>
          </a:p>
          <a:p>
            <a:pPr>
              <a:lnSpc>
                <a:spcPct val="108000"/>
              </a:lnSpc>
              <a:spcAft>
                <a:spcPts val="600"/>
              </a:spcAft>
            </a:pPr>
            <a:r>
              <a:rPr sz="1400" b="1">
                <a:solidFill>
                  <a:srgbClr val="1B7F3B"/>
                </a:solidFill>
                <a:latin typeface="Calibri"/>
              </a:rPr>
              <a:t>• </a:t>
            </a:r>
            <a:r>
              <a:rPr b="1" sz="1400">
                <a:solidFill>
                  <a:srgbClr val="212121"/>
                </a:solidFill>
                <a:latin typeface="Calibri"/>
              </a:rPr>
              <a:t>Accionable: </a:t>
            </a:r>
            <a:r>
              <a:rPr sz="1400">
                <a:solidFill>
                  <a:srgbClr val="212121"/>
                </a:solidFill>
                <a:latin typeface="Calibri"/>
              </a:rPr>
              <a:t>el mensaje "la Big Four mejor valorada por sus empleados" está respaldado por los datos; las diferencias son pequeñas, así que debe apoyarse en hechos concretos (horas, salario), no solo en la nota.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2600" b="1" i="0">
                <a:solidFill>
                  <a:srgbClr val="0F4D24"/>
                </a:solidFill>
                <a:latin typeface="Cambria"/>
              </a:rPr>
              <a:t>Insights · Tendencia favorable y un artefacto del dato</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Evolución anual del rating y de la recomendación</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5</a:t>
            </a:r>
          </a:p>
        </p:txBody>
      </p:sp>
      <p:pic>
        <p:nvPicPr>
          <p:cNvPr id="6" name="Picture 5" descr="04_eda_evolucion_rating.png"/>
          <p:cNvPicPr>
            <a:picLocks noChangeAspect="1"/>
          </p:cNvPicPr>
          <p:nvPr/>
        </p:nvPicPr>
        <p:blipFill>
          <a:blip r:embed="rId2"/>
          <a:stretch>
            <a:fillRect/>
          </a:stretch>
        </p:blipFill>
        <p:spPr>
          <a:xfrm>
            <a:off x="548640" y="1444542"/>
            <a:ext cx="11064240" cy="2871634"/>
          </a:xfrm>
          <a:prstGeom prst="rect">
            <a:avLst/>
          </a:prstGeom>
        </p:spPr>
      </p:pic>
      <p:sp>
        <p:nvSpPr>
          <p:cNvPr id="7" name="TextBox 6"/>
          <p:cNvSpPr txBox="1"/>
          <p:nvPr/>
        </p:nvSpPr>
        <p:spPr>
          <a:xfrm>
            <a:off x="548640" y="4526280"/>
            <a:ext cx="11064240" cy="1783080"/>
          </a:xfrm>
          <a:prstGeom prst="rect">
            <a:avLst/>
          </a:prstGeom>
          <a:noFill/>
        </p:spPr>
        <p:txBody>
          <a:bodyPr wrap="square" lIns="45720" rIns="45720">
            <a:spAutoFit/>
          </a:bodyPr>
          <a:lstStyle/>
          <a:p>
            <a:pPr>
              <a:lnSpc>
                <a:spcPct val="108000"/>
              </a:lnSpc>
              <a:spcAft>
                <a:spcPts val="600"/>
              </a:spcAft>
            </a:pPr>
            <a:r>
              <a:rPr sz="1400" b="1">
                <a:solidFill>
                  <a:srgbClr val="1B7F3B"/>
                </a:solidFill>
                <a:latin typeface="Calibri"/>
              </a:rPr>
              <a:t>• </a:t>
            </a:r>
            <a:r>
              <a:rPr b="1" sz="1400">
                <a:solidFill>
                  <a:srgbClr val="212121"/>
                </a:solidFill>
                <a:latin typeface="Calibri"/>
              </a:rPr>
              <a:t>El rating de Deloitte sube de 3,85 (2018-19) a 4,00 en 2022 </a:t>
            </a:r>
            <a:r>
              <a:rPr sz="1400">
                <a:solidFill>
                  <a:srgbClr val="212121"/>
                </a:solidFill>
                <a:latin typeface="Calibri"/>
              </a:rPr>
              <a:t>y lidera el grupo desde 2022.</a:t>
            </a:r>
          </a:p>
          <a:p>
            <a:pPr>
              <a:lnSpc>
                <a:spcPct val="108000"/>
              </a:lnSpc>
              <a:spcAft>
                <a:spcPts val="600"/>
              </a:spcAft>
            </a:pPr>
            <a:r>
              <a:rPr sz="1400" b="1">
                <a:solidFill>
                  <a:srgbClr val="1B7F3B"/>
                </a:solidFill>
                <a:latin typeface="Calibri"/>
              </a:rPr>
              <a:t>• </a:t>
            </a:r>
            <a:r>
              <a:rPr b="1" sz="1400">
                <a:solidFill>
                  <a:srgbClr val="212121"/>
                </a:solidFill>
                <a:latin typeface="Calibri"/>
              </a:rPr>
              <a:t>El "% que recomienda" bruto cae en las cuatro firmas (Deloitte 55 % → 38 %), pero es un artefacto: </a:t>
            </a:r>
            <a:r>
              <a:rPr sz="1400">
                <a:solidFill>
                  <a:srgbClr val="212121"/>
                </a:solidFill>
                <a:latin typeface="Calibri"/>
              </a:rPr>
              <a:t>la proporción de "sin opinión" pasa del 35 % al 54 %. Entre quienes opinan, Deloitte se mantiene en 78-82 %, la más alta.</a:t>
            </a:r>
          </a:p>
          <a:p>
            <a:pPr>
              <a:lnSpc>
                <a:spcPct val="108000"/>
              </a:lnSpc>
              <a:spcAft>
                <a:spcPts val="600"/>
              </a:spcAft>
            </a:pPr>
            <a:r>
              <a:rPr sz="1400" b="1">
                <a:solidFill>
                  <a:srgbClr val="1B7F3B"/>
                </a:solidFill>
                <a:latin typeface="Calibri"/>
              </a:rPr>
              <a:t>• </a:t>
            </a:r>
            <a:r>
              <a:rPr b="1" sz="1400">
                <a:solidFill>
                  <a:srgbClr val="212121"/>
                </a:solidFill>
                <a:latin typeface="Calibri"/>
              </a:rPr>
              <a:t>Los antiguos empleados puntúan ≈0,3 puntos menos en todas las firmas </a:t>
            </a:r>
            <a:r>
              <a:rPr sz="1400">
                <a:solidFill>
                  <a:srgbClr val="212121"/>
                </a:solidFill>
                <a:latin typeface="Calibri"/>
              </a:rPr>
              <a:t>(sesgo de selección); los de Deloitte (3,69) igualan o superan a los de los peers (3,57-3,70). Para entender la rotación hay que mirar temas, no rating.</a:t>
            </a:r>
          </a:p>
          <a:p>
            <a:pPr>
              <a:lnSpc>
                <a:spcPct val="108000"/>
              </a:lnSpc>
              <a:spcAft>
                <a:spcPts val="600"/>
              </a:spcAft>
            </a:pPr>
            <a:r>
              <a:rPr sz="1400" b="1">
                <a:solidFill>
                  <a:srgbClr val="1B7F3B"/>
                </a:solidFill>
                <a:latin typeface="Calibri"/>
              </a:rPr>
              <a:t>• </a:t>
            </a:r>
            <a:r>
              <a:rPr b="1" sz="1400">
                <a:solidFill>
                  <a:srgbClr val="212121"/>
                </a:solidFill>
                <a:latin typeface="Calibri"/>
              </a:rPr>
              <a:t>Accionable: </a:t>
            </a:r>
            <a:r>
              <a:rPr sz="1400">
                <a:solidFill>
                  <a:srgbClr val="212121"/>
                </a:solidFill>
                <a:latin typeface="Calibri"/>
              </a:rPr>
              <a:t>reportar a dirección la recomendación "entre quienes opinan" para no diagnosticar una caída que no existe.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Validación del sentimiento en pros y cons</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Control de calidad con distilbert-base-uncased-finetuned-sst-2-english (binario, truncation=True)</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6</a:t>
            </a:r>
          </a:p>
        </p:txBody>
      </p:sp>
      <p:pic>
        <p:nvPicPr>
          <p:cNvPr id="6" name="Picture 5" descr="06_sentimiento_qc.png"/>
          <p:cNvPicPr>
            <a:picLocks noChangeAspect="1"/>
          </p:cNvPicPr>
          <p:nvPr/>
        </p:nvPicPr>
        <p:blipFill>
          <a:blip r:embed="rId2"/>
          <a:stretch>
            <a:fillRect/>
          </a:stretch>
        </p:blipFill>
        <p:spPr>
          <a:xfrm>
            <a:off x="548640" y="1408514"/>
            <a:ext cx="6035040" cy="3035131"/>
          </a:xfrm>
          <a:prstGeom prst="rect">
            <a:avLst/>
          </a:prstGeom>
        </p:spPr>
      </p:pic>
      <p:sp>
        <p:nvSpPr>
          <p:cNvPr id="7" name="TextBox 6"/>
          <p:cNvSpPr txBox="1"/>
          <p:nvPr/>
        </p:nvSpPr>
        <p:spPr>
          <a:xfrm>
            <a:off x="548640" y="4526280"/>
            <a:ext cx="6035040" cy="1737360"/>
          </a:xfrm>
          <a:prstGeom prst="rect">
            <a:avLst/>
          </a:prstGeom>
          <a:noFill/>
        </p:spPr>
        <p:txBody>
          <a:bodyPr wrap="square" anchor="t" lIns="45720" rIns="45720">
            <a:spAutoFit/>
          </a:bodyPr>
          <a:lstStyle/>
          <a:p>
            <a:pPr algn="l">
              <a:lnSpc>
                <a:spcPct val="110000"/>
              </a:lnSpc>
            </a:pPr>
            <a:r>
              <a:rPr sz="1300" b="1" i="0">
                <a:solidFill>
                  <a:srgbClr val="212121"/>
                </a:solidFill>
                <a:latin typeface="Calibri"/>
              </a:rPr>
              <a:t>Por qué este modelo: </a:t>
            </a:r>
            <a:r>
              <a:rPr sz="1300" b="0" i="0">
                <a:solidFill>
                  <a:srgbClr val="212121"/>
                </a:solidFill>
                <a:latin typeface="Calibri"/>
              </a:rPr>
              <a:t>la pregunta de control es binaria (¿los pros suenan positivos y los cons negativos?); una clase neutral añadiría ambigüedad. Es inglés, rápido (16.000 textos en 47 s) y los textos cortos apenas sufren el truncado a 512 tokens.</a:t>
            </a:r>
          </a:p>
          <a:p>
            <a:pPr algn="l">
              <a:lnSpc>
                <a:spcPct val="110000"/>
              </a:lnSpc>
            </a:pPr>
            <a:r>
              <a:rPr sz="1300" b="1" i="0">
                <a:solidFill>
                  <a:srgbClr val="212121"/>
                </a:solidFill>
                <a:latin typeface="Calibri"/>
              </a:rPr>
              <a:t>Resultado: </a:t>
            </a:r>
            <a:r>
              <a:rPr sz="1300" b="0" i="0">
                <a:solidFill>
                  <a:srgbClr val="212121"/>
                </a:solidFill>
                <a:latin typeface="Calibri"/>
              </a:rPr>
              <a:t>94,7 % de pros positivos y 82,4 % de cons negativos, casi idéntico en las 4 firmas. El modelo discrimina: pros y cons negativos → rating 2,75; ambos positivos → 4,21.</a:t>
            </a:r>
          </a:p>
        </p:txBody>
      </p:sp>
      <p:sp>
        <p:nvSpPr>
          <p:cNvPr id="8" name="Rounded Rectangle 7"/>
          <p:cNvSpPr/>
          <p:nvPr/>
        </p:nvSpPr>
        <p:spPr>
          <a:xfrm>
            <a:off x="6858000" y="1371600"/>
            <a:ext cx="4754880" cy="4892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1463040"/>
            <a:ext cx="448056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Casos discordantes: qué son</a:t>
            </a:r>
          </a:p>
        </p:txBody>
      </p:sp>
      <p:sp>
        <p:nvSpPr>
          <p:cNvPr id="10" name="TextBox 9"/>
          <p:cNvSpPr txBox="1"/>
          <p:nvPr/>
        </p:nvSpPr>
        <p:spPr>
          <a:xfrm>
            <a:off x="6995160" y="1874519"/>
            <a:ext cx="4480560" cy="4297680"/>
          </a:xfrm>
          <a:prstGeom prst="rect">
            <a:avLst/>
          </a:prstGeom>
          <a:noFill/>
        </p:spPr>
        <p:txBody>
          <a:bodyPr wrap="square" lIns="45720" rIns="45720">
            <a:spAutoFit/>
          </a:bodyPr>
          <a:lstStyle/>
          <a:p>
            <a:pPr>
              <a:lnSpc>
                <a:spcPct val="108000"/>
              </a:lnSpc>
              <a:spcAft>
                <a:spcPts val="400"/>
              </a:spcAft>
            </a:pPr>
            <a:r>
              <a:rPr sz="1300" b="1">
                <a:solidFill>
                  <a:srgbClr val="1B7F3B"/>
                </a:solidFill>
                <a:latin typeface="Calibri"/>
              </a:rPr>
              <a:t>• </a:t>
            </a:r>
            <a:r>
              <a:rPr b="1" sz="1300">
                <a:solidFill>
                  <a:srgbClr val="212121"/>
                </a:solidFill>
                <a:latin typeface="Calibri"/>
              </a:rPr>
              <a:t>Cons positivos (17,6 %): </a:t>
            </a:r>
            <a:r>
              <a:rPr sz="1300">
                <a:solidFill>
                  <a:srgbClr val="212121"/>
                </a:solidFill>
                <a:latin typeface="Calibri"/>
              </a:rPr>
              <a:t>ausencia de queja ("No cons, so far I love it!"); listas de temas sin polaridad ("Work-life balance, Bonuses, Hike and Training"); quejas aceptadas con deportividad ("Long hours and challenging work", rating 5).</a:t>
            </a:r>
          </a:p>
          <a:p>
            <a:pPr>
              <a:lnSpc>
                <a:spcPct val="108000"/>
              </a:lnSpc>
              <a:spcAft>
                <a:spcPts val="400"/>
              </a:spcAft>
            </a:pPr>
            <a:r>
              <a:rPr sz="1300" b="1">
                <a:solidFill>
                  <a:srgbClr val="1B7F3B"/>
                </a:solidFill>
                <a:latin typeface="Calibri"/>
              </a:rPr>
              <a:t>• </a:t>
            </a:r>
            <a:r>
              <a:rPr b="1" sz="1300">
                <a:solidFill>
                  <a:srgbClr val="212121"/>
                </a:solidFill>
                <a:latin typeface="Calibri"/>
              </a:rPr>
              <a:t>Pros negativos (5,3 %): </a:t>
            </a:r>
            <a:r>
              <a:rPr sz="1300">
                <a:solidFill>
                  <a:srgbClr val="212121"/>
                </a:solidFill>
                <a:latin typeface="Calibri"/>
              </a:rPr>
              <a:t>pros que no son pros ("Nothing good to speak of", rating 1); elogios con jerga o negaciones ("steep learning curve", "flat organisation, not much hierarchy"); pros largos con matices.</a:t>
            </a:r>
          </a:p>
          <a:p>
            <a:pPr>
              <a:lnSpc>
                <a:spcPct val="108000"/>
              </a:lnSpc>
              <a:spcAft>
                <a:spcPts val="400"/>
              </a:spcAft>
            </a:pPr>
            <a:r>
              <a:rPr sz="1300" b="1">
                <a:solidFill>
                  <a:srgbClr val="1B7F3B"/>
                </a:solidFill>
                <a:latin typeface="Calibri"/>
              </a:rPr>
              <a:t>• </a:t>
            </a:r>
            <a:r>
              <a:rPr b="1" sz="1300">
                <a:solidFill>
                  <a:srgbClr val="212121"/>
                </a:solidFill>
                <a:latin typeface="Calibri"/>
              </a:rPr>
              <a:t>Conclusión: </a:t>
            </a:r>
            <a:r>
              <a:rPr sz="1300">
                <a:solidFill>
                  <a:srgbClr val="212121"/>
                </a:solidFill>
                <a:latin typeface="Calibri"/>
              </a:rPr>
              <a:t>no hay fallo del pipeline; las reseñas vacías se apartan y las empresas se comparan por tema, no por sentimiento.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Topic modeling con BERTopic: cómo y por qué</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Un modelo para los pros y otro para los cons, entrenados con las cuatro firmas juntas (comparabilidad)</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7</a:t>
            </a:r>
          </a:p>
        </p:txBody>
      </p:sp>
      <p:sp>
        <p:nvSpPr>
          <p:cNvPr id="6" name="Rounded Rectangle 5"/>
          <p:cNvSpPr/>
          <p:nvPr/>
        </p:nvSpPr>
        <p:spPr>
          <a:xfrm>
            <a:off x="548640" y="1463040"/>
            <a:ext cx="2103120" cy="1371600"/>
          </a:xfrm>
          <a:prstGeom prst="roundRect">
            <a:avLst>
              <a:gd name="adj" fmla="val 8000"/>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1920240" cy="457200"/>
          </a:xfrm>
          <a:prstGeom prst="rect">
            <a:avLst/>
          </a:prstGeom>
          <a:noFill/>
        </p:spPr>
        <p:txBody>
          <a:bodyPr wrap="square" anchor="t" lIns="45720" rIns="45720">
            <a:spAutoFit/>
          </a:bodyPr>
          <a:lstStyle/>
          <a:p>
            <a:pPr algn="ctr">
              <a:lnSpc>
                <a:spcPct val="110000"/>
              </a:lnSpc>
            </a:pPr>
            <a:r>
              <a:rPr sz="1400" b="1" i="0">
                <a:solidFill>
                  <a:srgbClr val="FFFFFF"/>
                </a:solidFill>
                <a:latin typeface="Calibri"/>
              </a:rPr>
              <a:t>1 · Embeddings</a:t>
            </a:r>
          </a:p>
        </p:txBody>
      </p:sp>
      <p:sp>
        <p:nvSpPr>
          <p:cNvPr id="8" name="TextBox 7"/>
          <p:cNvSpPr txBox="1"/>
          <p:nvPr/>
        </p:nvSpPr>
        <p:spPr>
          <a:xfrm>
            <a:off x="640080" y="1965960"/>
            <a:ext cx="1920240" cy="822960"/>
          </a:xfrm>
          <a:prstGeom prst="rect">
            <a:avLst/>
          </a:prstGeom>
          <a:noFill/>
        </p:spPr>
        <p:txBody>
          <a:bodyPr wrap="square" anchor="t" lIns="45720" rIns="45720">
            <a:spAutoFit/>
          </a:bodyPr>
          <a:lstStyle/>
          <a:p>
            <a:pPr algn="ctr">
              <a:lnSpc>
                <a:spcPct val="110000"/>
              </a:lnSpc>
            </a:pPr>
            <a:r>
              <a:rPr sz="1100" b="0" i="0">
                <a:solidFill>
                  <a:srgbClr val="FFFFFF"/>
                </a:solidFill>
                <a:latin typeface="Calibri"/>
              </a:rPr>
              <a:t>all-MiniLM-L6-v2
(384 dim.)</a:t>
            </a:r>
          </a:p>
        </p:txBody>
      </p:sp>
      <p:sp>
        <p:nvSpPr>
          <p:cNvPr id="9" name="TextBox 8"/>
          <p:cNvSpPr txBox="1"/>
          <p:nvPr/>
        </p:nvSpPr>
        <p:spPr>
          <a:xfrm>
            <a:off x="2633472" y="1920240"/>
            <a:ext cx="274320" cy="457200"/>
          </a:xfrm>
          <a:prstGeom prst="rect">
            <a:avLst/>
          </a:prstGeom>
          <a:noFill/>
        </p:spPr>
        <p:txBody>
          <a:bodyPr wrap="square" anchor="t" lIns="45720" rIns="45720">
            <a:spAutoFit/>
          </a:bodyPr>
          <a:lstStyle/>
          <a:p>
            <a:pPr algn="ctr">
              <a:lnSpc>
                <a:spcPct val="110000"/>
              </a:lnSpc>
            </a:pPr>
            <a:r>
              <a:rPr sz="2200" b="1" i="0">
                <a:solidFill>
                  <a:srgbClr val="8C8C8C"/>
                </a:solidFill>
                <a:latin typeface="Calibri"/>
              </a:rPr>
              <a:t>›</a:t>
            </a:r>
          </a:p>
        </p:txBody>
      </p:sp>
      <p:sp>
        <p:nvSpPr>
          <p:cNvPr id="10" name="Rounded Rectangle 9"/>
          <p:cNvSpPr/>
          <p:nvPr/>
        </p:nvSpPr>
        <p:spPr>
          <a:xfrm>
            <a:off x="2816352" y="1463040"/>
            <a:ext cx="2103120" cy="1371600"/>
          </a:xfrm>
          <a:prstGeom prst="roundRect">
            <a:avLst>
              <a:gd name="adj" fmla="val 8000"/>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7792" y="1508760"/>
            <a:ext cx="1920240" cy="457200"/>
          </a:xfrm>
          <a:prstGeom prst="rect">
            <a:avLst/>
          </a:prstGeom>
          <a:noFill/>
        </p:spPr>
        <p:txBody>
          <a:bodyPr wrap="square" anchor="t" lIns="45720" rIns="45720">
            <a:spAutoFit/>
          </a:bodyPr>
          <a:lstStyle/>
          <a:p>
            <a:pPr algn="ctr">
              <a:lnSpc>
                <a:spcPct val="110000"/>
              </a:lnSpc>
            </a:pPr>
            <a:r>
              <a:rPr sz="1400" b="1" i="0">
                <a:solidFill>
                  <a:srgbClr val="FFFFFF"/>
                </a:solidFill>
                <a:latin typeface="Calibri"/>
              </a:rPr>
              <a:t>2 · UMAP</a:t>
            </a:r>
          </a:p>
        </p:txBody>
      </p:sp>
      <p:sp>
        <p:nvSpPr>
          <p:cNvPr id="12" name="TextBox 11"/>
          <p:cNvSpPr txBox="1"/>
          <p:nvPr/>
        </p:nvSpPr>
        <p:spPr>
          <a:xfrm>
            <a:off x="2907792" y="1965960"/>
            <a:ext cx="1920240" cy="822960"/>
          </a:xfrm>
          <a:prstGeom prst="rect">
            <a:avLst/>
          </a:prstGeom>
          <a:noFill/>
        </p:spPr>
        <p:txBody>
          <a:bodyPr wrap="square" anchor="t" lIns="45720" rIns="45720">
            <a:spAutoFit/>
          </a:bodyPr>
          <a:lstStyle/>
          <a:p>
            <a:pPr algn="ctr">
              <a:lnSpc>
                <a:spcPct val="110000"/>
              </a:lnSpc>
            </a:pPr>
            <a:r>
              <a:rPr sz="1100" b="0" i="0">
                <a:solidFill>
                  <a:srgbClr val="FFFFFF"/>
                </a:solidFill>
                <a:latin typeface="Calibri"/>
              </a:rPr>
              <a:t>5 dimensiones
random_state=42</a:t>
            </a:r>
          </a:p>
        </p:txBody>
      </p:sp>
      <p:sp>
        <p:nvSpPr>
          <p:cNvPr id="13" name="TextBox 12"/>
          <p:cNvSpPr txBox="1"/>
          <p:nvPr/>
        </p:nvSpPr>
        <p:spPr>
          <a:xfrm>
            <a:off x="4901183" y="1920240"/>
            <a:ext cx="274320" cy="457200"/>
          </a:xfrm>
          <a:prstGeom prst="rect">
            <a:avLst/>
          </a:prstGeom>
          <a:noFill/>
        </p:spPr>
        <p:txBody>
          <a:bodyPr wrap="square" anchor="t" lIns="45720" rIns="45720">
            <a:spAutoFit/>
          </a:bodyPr>
          <a:lstStyle/>
          <a:p>
            <a:pPr algn="ctr">
              <a:lnSpc>
                <a:spcPct val="110000"/>
              </a:lnSpc>
            </a:pPr>
            <a:r>
              <a:rPr sz="2200" b="1" i="0">
                <a:solidFill>
                  <a:srgbClr val="8C8C8C"/>
                </a:solidFill>
                <a:latin typeface="Calibri"/>
              </a:rPr>
              <a:t>›</a:t>
            </a:r>
          </a:p>
        </p:txBody>
      </p:sp>
      <p:sp>
        <p:nvSpPr>
          <p:cNvPr id="14" name="Rounded Rectangle 13"/>
          <p:cNvSpPr/>
          <p:nvPr/>
        </p:nvSpPr>
        <p:spPr>
          <a:xfrm>
            <a:off x="5084064" y="1463040"/>
            <a:ext cx="2103120" cy="1371600"/>
          </a:xfrm>
          <a:prstGeom prst="roundRect">
            <a:avLst>
              <a:gd name="adj" fmla="val 8000"/>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75503" y="1508760"/>
            <a:ext cx="1920240" cy="457200"/>
          </a:xfrm>
          <a:prstGeom prst="rect">
            <a:avLst/>
          </a:prstGeom>
          <a:noFill/>
        </p:spPr>
        <p:txBody>
          <a:bodyPr wrap="square" anchor="t" lIns="45720" rIns="45720">
            <a:spAutoFit/>
          </a:bodyPr>
          <a:lstStyle/>
          <a:p>
            <a:pPr algn="ctr">
              <a:lnSpc>
                <a:spcPct val="110000"/>
              </a:lnSpc>
            </a:pPr>
            <a:r>
              <a:rPr sz="1400" b="1" i="0">
                <a:solidFill>
                  <a:srgbClr val="FFFFFF"/>
                </a:solidFill>
                <a:latin typeface="Calibri"/>
              </a:rPr>
              <a:t>3 · HDBSCAN</a:t>
            </a:r>
          </a:p>
        </p:txBody>
      </p:sp>
      <p:sp>
        <p:nvSpPr>
          <p:cNvPr id="16" name="TextBox 15"/>
          <p:cNvSpPr txBox="1"/>
          <p:nvPr/>
        </p:nvSpPr>
        <p:spPr>
          <a:xfrm>
            <a:off x="5175503" y="1965960"/>
            <a:ext cx="1920240" cy="822960"/>
          </a:xfrm>
          <a:prstGeom prst="rect">
            <a:avLst/>
          </a:prstGeom>
          <a:noFill/>
        </p:spPr>
        <p:txBody>
          <a:bodyPr wrap="square" anchor="t" lIns="45720" rIns="45720">
            <a:spAutoFit/>
          </a:bodyPr>
          <a:lstStyle/>
          <a:p>
            <a:pPr algn="ctr">
              <a:lnSpc>
                <a:spcPct val="110000"/>
              </a:lnSpc>
            </a:pPr>
            <a:r>
              <a:rPr sz="1100" b="0" i="0">
                <a:solidFill>
                  <a:srgbClr val="FFFFFF"/>
                </a:solidFill>
                <a:latin typeface="Calibri"/>
              </a:rPr>
              <a:t>min_cluster_size=60
min_samples=10</a:t>
            </a:r>
          </a:p>
        </p:txBody>
      </p:sp>
      <p:sp>
        <p:nvSpPr>
          <p:cNvPr id="17" name="TextBox 16"/>
          <p:cNvSpPr txBox="1"/>
          <p:nvPr/>
        </p:nvSpPr>
        <p:spPr>
          <a:xfrm>
            <a:off x="7168896" y="1920240"/>
            <a:ext cx="274320" cy="457200"/>
          </a:xfrm>
          <a:prstGeom prst="rect">
            <a:avLst/>
          </a:prstGeom>
          <a:noFill/>
        </p:spPr>
        <p:txBody>
          <a:bodyPr wrap="square" anchor="t" lIns="45720" rIns="45720">
            <a:spAutoFit/>
          </a:bodyPr>
          <a:lstStyle/>
          <a:p>
            <a:pPr algn="ctr">
              <a:lnSpc>
                <a:spcPct val="110000"/>
              </a:lnSpc>
            </a:pPr>
            <a:r>
              <a:rPr sz="2200" b="1" i="0">
                <a:solidFill>
                  <a:srgbClr val="8C8C8C"/>
                </a:solidFill>
                <a:latin typeface="Calibri"/>
              </a:rPr>
              <a:t>›</a:t>
            </a:r>
          </a:p>
        </p:txBody>
      </p:sp>
      <p:sp>
        <p:nvSpPr>
          <p:cNvPr id="18" name="Rounded Rectangle 17"/>
          <p:cNvSpPr/>
          <p:nvPr/>
        </p:nvSpPr>
        <p:spPr>
          <a:xfrm>
            <a:off x="7351775" y="1463040"/>
            <a:ext cx="2103120" cy="1371600"/>
          </a:xfrm>
          <a:prstGeom prst="roundRect">
            <a:avLst>
              <a:gd name="adj" fmla="val 8000"/>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43215" y="1508760"/>
            <a:ext cx="1920240" cy="457200"/>
          </a:xfrm>
          <a:prstGeom prst="rect">
            <a:avLst/>
          </a:prstGeom>
          <a:noFill/>
        </p:spPr>
        <p:txBody>
          <a:bodyPr wrap="square" anchor="t" lIns="45720" rIns="45720">
            <a:spAutoFit/>
          </a:bodyPr>
          <a:lstStyle/>
          <a:p>
            <a:pPr algn="ctr">
              <a:lnSpc>
                <a:spcPct val="110000"/>
              </a:lnSpc>
            </a:pPr>
            <a:r>
              <a:rPr sz="1400" b="1" i="0">
                <a:solidFill>
                  <a:srgbClr val="FFFFFF"/>
                </a:solidFill>
                <a:latin typeface="Calibri"/>
              </a:rPr>
              <a:t>4 · c-TF-IDF + MMR</a:t>
            </a:r>
          </a:p>
        </p:txBody>
      </p:sp>
      <p:sp>
        <p:nvSpPr>
          <p:cNvPr id="20" name="TextBox 19"/>
          <p:cNvSpPr txBox="1"/>
          <p:nvPr/>
        </p:nvSpPr>
        <p:spPr>
          <a:xfrm>
            <a:off x="7443215" y="1965960"/>
            <a:ext cx="1920240" cy="822960"/>
          </a:xfrm>
          <a:prstGeom prst="rect">
            <a:avLst/>
          </a:prstGeom>
          <a:noFill/>
        </p:spPr>
        <p:txBody>
          <a:bodyPr wrap="square" anchor="t" lIns="45720" rIns="45720">
            <a:spAutoFit/>
          </a:bodyPr>
          <a:lstStyle/>
          <a:p>
            <a:pPr algn="ctr">
              <a:lnSpc>
                <a:spcPct val="110000"/>
              </a:lnSpc>
            </a:pPr>
            <a:r>
              <a:rPr sz="1100" b="0" i="0">
                <a:solidFill>
                  <a:srgbClr val="FFFFFF"/>
                </a:solidFill>
                <a:latin typeface="Calibri"/>
              </a:rPr>
              <a:t>palabras que distinguen
cada topic</a:t>
            </a:r>
          </a:p>
        </p:txBody>
      </p:sp>
      <p:sp>
        <p:nvSpPr>
          <p:cNvPr id="21" name="TextBox 20"/>
          <p:cNvSpPr txBox="1"/>
          <p:nvPr/>
        </p:nvSpPr>
        <p:spPr>
          <a:xfrm>
            <a:off x="9436607" y="1920240"/>
            <a:ext cx="274320" cy="457200"/>
          </a:xfrm>
          <a:prstGeom prst="rect">
            <a:avLst/>
          </a:prstGeom>
          <a:noFill/>
        </p:spPr>
        <p:txBody>
          <a:bodyPr wrap="square" anchor="t" lIns="45720" rIns="45720">
            <a:spAutoFit/>
          </a:bodyPr>
          <a:lstStyle/>
          <a:p>
            <a:pPr algn="ctr">
              <a:lnSpc>
                <a:spcPct val="110000"/>
              </a:lnSpc>
            </a:pPr>
            <a:r>
              <a:rPr sz="2200" b="1" i="0">
                <a:solidFill>
                  <a:srgbClr val="8C8C8C"/>
                </a:solidFill>
                <a:latin typeface="Calibri"/>
              </a:rPr>
              <a:t>›</a:t>
            </a:r>
          </a:p>
        </p:txBody>
      </p:sp>
      <p:sp>
        <p:nvSpPr>
          <p:cNvPr id="22" name="Rounded Rectangle 21"/>
          <p:cNvSpPr/>
          <p:nvPr/>
        </p:nvSpPr>
        <p:spPr>
          <a:xfrm>
            <a:off x="9619488" y="1463040"/>
            <a:ext cx="2103120" cy="1371600"/>
          </a:xfrm>
          <a:prstGeom prst="roundRect">
            <a:avLst>
              <a:gd name="adj" fmla="val 8000"/>
            </a:avLst>
          </a:prstGeom>
          <a:solidFill>
            <a:srgbClr val="0F4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10928" y="1508760"/>
            <a:ext cx="1920240" cy="457200"/>
          </a:xfrm>
          <a:prstGeom prst="rect">
            <a:avLst/>
          </a:prstGeom>
          <a:noFill/>
        </p:spPr>
        <p:txBody>
          <a:bodyPr wrap="square" anchor="t" lIns="45720" rIns="45720">
            <a:spAutoFit/>
          </a:bodyPr>
          <a:lstStyle/>
          <a:p>
            <a:pPr algn="ctr">
              <a:lnSpc>
                <a:spcPct val="110000"/>
              </a:lnSpc>
            </a:pPr>
            <a:r>
              <a:rPr sz="1400" b="1" i="0">
                <a:solidFill>
                  <a:srgbClr val="FFFFFF"/>
                </a:solidFill>
                <a:latin typeface="Calibri"/>
              </a:rPr>
              <a:t>5 · Revisión manual</a:t>
            </a:r>
          </a:p>
        </p:txBody>
      </p:sp>
      <p:sp>
        <p:nvSpPr>
          <p:cNvPr id="24" name="TextBox 23"/>
          <p:cNvSpPr txBox="1"/>
          <p:nvPr/>
        </p:nvSpPr>
        <p:spPr>
          <a:xfrm>
            <a:off x="9710928" y="1965960"/>
            <a:ext cx="1920240" cy="822960"/>
          </a:xfrm>
          <a:prstGeom prst="rect">
            <a:avLst/>
          </a:prstGeom>
          <a:noFill/>
        </p:spPr>
        <p:txBody>
          <a:bodyPr wrap="square" anchor="t" lIns="45720" rIns="45720">
            <a:spAutoFit/>
          </a:bodyPr>
          <a:lstStyle/>
          <a:p>
            <a:pPr algn="ctr">
              <a:lnSpc>
                <a:spcPct val="110000"/>
              </a:lnSpc>
            </a:pPr>
            <a:r>
              <a:rPr sz="1100" b="0" i="0">
                <a:solidFill>
                  <a:srgbClr val="FFFFFF"/>
                </a:solidFill>
                <a:latin typeface="Calibri"/>
              </a:rPr>
              <a:t>63 topics → 8 categorías
+ Otros + Sin contenido</a:t>
            </a:r>
          </a:p>
        </p:txBody>
      </p:sp>
      <p:sp>
        <p:nvSpPr>
          <p:cNvPr id="25" name="Rounded Rectangle 24"/>
          <p:cNvSpPr/>
          <p:nvPr/>
        </p:nvSpPr>
        <p:spPr>
          <a:xfrm>
            <a:off x="548640" y="3108960"/>
            <a:ext cx="3657600" cy="315468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200400"/>
            <a:ext cx="338328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¿Por qué BERTopic y no LDA?</a:t>
            </a:r>
          </a:p>
        </p:txBody>
      </p:sp>
      <p:sp>
        <p:nvSpPr>
          <p:cNvPr id="27" name="TextBox 26"/>
          <p:cNvSpPr txBox="1"/>
          <p:nvPr/>
        </p:nvSpPr>
        <p:spPr>
          <a:xfrm>
            <a:off x="685800" y="3611880"/>
            <a:ext cx="3383280" cy="2560320"/>
          </a:xfrm>
          <a:prstGeom prst="rect">
            <a:avLst/>
          </a:prstGeom>
          <a:noFill/>
        </p:spPr>
        <p:txBody>
          <a:bodyPr wrap="square" anchor="t" lIns="45720" rIns="45720">
            <a:spAutoFit/>
          </a:bodyPr>
          <a:lstStyle/>
          <a:p>
            <a:pPr algn="l">
              <a:lnSpc>
                <a:spcPct val="110000"/>
              </a:lnSpc>
            </a:pPr>
            <a:r>
              <a:rPr sz="1300" b="0" i="0">
                <a:solidFill>
                  <a:srgbClr val="212121"/>
                </a:solidFill>
                <a:latin typeface="Calibri"/>
              </a:rPr>
              <a:t>Reseñas de 8 palabras de mediana y vocabulario variado: LDA cuenta palabras y no sabe que "WLB", "work life balance" y "long hours" son lo mismo. BERTopic agrupa por significado, no exige fijar el número de topics y trata explícitamente los outliers.</a:t>
            </a:r>
          </a:p>
        </p:txBody>
      </p:sp>
      <p:sp>
        <p:nvSpPr>
          <p:cNvPr id="28" name="Rounded Rectangle 27"/>
          <p:cNvSpPr/>
          <p:nvPr/>
        </p:nvSpPr>
        <p:spPr>
          <a:xfrm>
            <a:off x="4343400" y="3108960"/>
            <a:ext cx="3657600" cy="3154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3200400"/>
            <a:ext cx="338328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Parámetros con lógica de negocio</a:t>
            </a:r>
          </a:p>
        </p:txBody>
      </p:sp>
      <p:sp>
        <p:nvSpPr>
          <p:cNvPr id="30" name="TextBox 29"/>
          <p:cNvSpPr txBox="1"/>
          <p:nvPr/>
        </p:nvSpPr>
        <p:spPr>
          <a:xfrm>
            <a:off x="4480560" y="3611880"/>
            <a:ext cx="3383280" cy="2560320"/>
          </a:xfrm>
          <a:prstGeom prst="rect">
            <a:avLst/>
          </a:prstGeom>
          <a:noFill/>
        </p:spPr>
        <p:txBody>
          <a:bodyPr wrap="square" lIns="45720" rIns="45720">
            <a:spAutoFit/>
          </a:bodyPr>
          <a:lstStyle/>
          <a:p>
            <a:pPr>
              <a:lnSpc>
                <a:spcPct val="108000"/>
              </a:lnSpc>
              <a:spcAft>
                <a:spcPts val="400"/>
              </a:spcAft>
            </a:pPr>
            <a:r>
              <a:rPr sz="1300" b="1">
                <a:solidFill>
                  <a:srgbClr val="1B7F3B"/>
                </a:solidFill>
                <a:latin typeface="Calibri"/>
              </a:rPr>
              <a:t>• </a:t>
            </a:r>
            <a:r>
              <a:rPr b="1" sz="1300">
                <a:solidFill>
                  <a:srgbClr val="212121"/>
                </a:solidFill>
                <a:latin typeface="Calibri"/>
              </a:rPr>
              <a:t>min_cluster_size = 60: </a:t>
            </a:r>
            <a:r>
              <a:rPr sz="1300">
                <a:solidFill>
                  <a:srgbClr val="212121"/>
                </a:solidFill>
                <a:latin typeface="Calibri"/>
              </a:rPr>
              <a:t>un topic debe reunir al menos 60 reseñas (0,75 %) para ser un patrón accionable, no una anécdota.</a:t>
            </a:r>
          </a:p>
          <a:p>
            <a:pPr>
              <a:lnSpc>
                <a:spcPct val="108000"/>
              </a:lnSpc>
              <a:spcAft>
                <a:spcPts val="400"/>
              </a:spcAft>
            </a:pPr>
            <a:r>
              <a:rPr sz="1300" b="1">
                <a:solidFill>
                  <a:srgbClr val="1B7F3B"/>
                </a:solidFill>
                <a:latin typeface="Calibri"/>
              </a:rPr>
              <a:t>• </a:t>
            </a:r>
            <a:r>
              <a:rPr b="1" sz="1300">
                <a:solidFill>
                  <a:srgbClr val="212121"/>
                </a:solidFill>
                <a:latin typeface="Calibri"/>
              </a:rPr>
              <a:t>Stopwords ampliadas: </a:t>
            </a:r>
            <a:r>
              <a:rPr sz="1300">
                <a:solidFill>
                  <a:srgbClr val="212121"/>
                </a:solidFill>
                <a:latin typeface="Calibri"/>
              </a:rPr>
              <a:t>nombres de las firmas y palabras de valoración ("good", "great") para que las palabras clave describan el tema.</a:t>
            </a:r>
          </a:p>
          <a:p>
            <a:pPr>
              <a:lnSpc>
                <a:spcPct val="108000"/>
              </a:lnSpc>
              <a:spcAft>
                <a:spcPts val="400"/>
              </a:spcAft>
            </a:pPr>
            <a:r>
              <a:rPr sz="1300" b="1">
                <a:solidFill>
                  <a:srgbClr val="1B7F3B"/>
                </a:solidFill>
                <a:latin typeface="Calibri"/>
              </a:rPr>
              <a:t>• </a:t>
            </a:r>
            <a:r>
              <a:rPr b="1" sz="1300">
                <a:solidFill>
                  <a:srgbClr val="212121"/>
                </a:solidFill>
                <a:latin typeface="Calibri"/>
              </a:rPr>
              <a:t>Semilla 42 en UMAP: </a:t>
            </a:r>
            <a:r>
              <a:rPr sz="1300">
                <a:solidFill>
                  <a:srgbClr val="212121"/>
                </a:solidFill>
                <a:latin typeface="Calibri"/>
              </a:rPr>
              <a:t>resultado reproducible.</a:t>
            </a:r>
          </a:p>
        </p:txBody>
      </p:sp>
      <p:sp>
        <p:nvSpPr>
          <p:cNvPr id="31" name="Rounded Rectangle 30"/>
          <p:cNvSpPr/>
          <p:nvPr/>
        </p:nvSpPr>
        <p:spPr>
          <a:xfrm>
            <a:off x="8138160" y="3108960"/>
            <a:ext cx="3474720" cy="3154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3200400"/>
            <a:ext cx="320040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Outliers (24-25 %)</a:t>
            </a:r>
          </a:p>
        </p:txBody>
      </p:sp>
      <p:sp>
        <p:nvSpPr>
          <p:cNvPr id="33" name="TextBox 32"/>
          <p:cNvSpPr txBox="1"/>
          <p:nvPr/>
        </p:nvSpPr>
        <p:spPr>
          <a:xfrm>
            <a:off x="8275320" y="3611880"/>
            <a:ext cx="3200400" cy="2560320"/>
          </a:xfrm>
          <a:prstGeom prst="rect">
            <a:avLst/>
          </a:prstGeom>
          <a:noFill/>
        </p:spPr>
        <p:txBody>
          <a:bodyPr wrap="square" lIns="45720" rIns="45720">
            <a:spAutoFit/>
          </a:bodyPr>
          <a:lstStyle/>
          <a:p>
            <a:pPr>
              <a:lnSpc>
                <a:spcPct val="108000"/>
              </a:lnSpc>
              <a:spcAft>
                <a:spcPts val="400"/>
              </a:spcAft>
            </a:pPr>
            <a:r>
              <a:rPr sz="1300" b="1">
                <a:solidFill>
                  <a:srgbClr val="1B7F3B"/>
                </a:solidFill>
                <a:latin typeface="Calibri"/>
              </a:rPr>
              <a:t>• </a:t>
            </a:r>
            <a:r>
              <a:rPr b="1" sz="1300">
                <a:solidFill>
                  <a:srgbClr val="212121"/>
                </a:solidFill>
                <a:latin typeface="Calibri"/>
              </a:rPr>
              <a:t>Decisión: </a:t>
            </a:r>
            <a:r>
              <a:rPr sz="1300">
                <a:solidFill>
                  <a:srgbClr val="212121"/>
                </a:solidFill>
                <a:latin typeface="Calibri"/>
              </a:rPr>
              <a:t>reasignar al topic más parecido por embedding; las reseñas realmente vacías ya están apartadas.</a:t>
            </a:r>
          </a:p>
          <a:p>
            <a:pPr>
              <a:lnSpc>
                <a:spcPct val="108000"/>
              </a:lnSpc>
              <a:spcAft>
                <a:spcPts val="400"/>
              </a:spcAft>
            </a:pPr>
            <a:r>
              <a:rPr sz="1300" b="1">
                <a:solidFill>
                  <a:srgbClr val="1B7F3B"/>
                </a:solidFill>
                <a:latin typeface="Calibri"/>
              </a:rPr>
              <a:t>• </a:t>
            </a:r>
            <a:r>
              <a:rPr b="1" sz="1300">
                <a:solidFill>
                  <a:srgbClr val="212121"/>
                </a:solidFill>
                <a:latin typeface="Calibri"/>
              </a:rPr>
              <a:t>Por qué: </a:t>
            </a:r>
            <a:r>
              <a:rPr sz="1300">
                <a:solidFill>
                  <a:srgbClr val="212121"/>
                </a:solidFill>
                <a:latin typeface="Calibri"/>
              </a:rPr>
              <a:t>cada reseña con contenido debe contar en los porcentajes; si no, solo contarían las opiniones "prototípicas".</a:t>
            </a:r>
          </a:p>
          <a:p>
            <a:pPr>
              <a:lnSpc>
                <a:spcPct val="108000"/>
              </a:lnSpc>
              <a:spcAft>
                <a:spcPts val="400"/>
              </a:spcAft>
            </a:pPr>
            <a:r>
              <a:rPr sz="1300" b="1">
                <a:solidFill>
                  <a:srgbClr val="1B7F3B"/>
                </a:solidFill>
                <a:latin typeface="Calibri"/>
              </a:rPr>
              <a:t>• </a:t>
            </a:r>
            <a:r>
              <a:rPr b="1" sz="1300">
                <a:solidFill>
                  <a:srgbClr val="212121"/>
                </a:solidFill>
                <a:latin typeface="Calibri"/>
              </a:rPr>
              <a:t>Robustez: </a:t>
            </a:r>
            <a:r>
              <a:rPr sz="1300">
                <a:solidFill>
                  <a:srgbClr val="212121"/>
                </a:solidFill>
                <a:latin typeface="Calibri"/>
              </a:rPr>
              <a:t>sin reasignar, los gaps ≥ 1 pp conservan signo y magnitud.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Análisis de topics · De qué hablan las Big Four</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33 topics en pros y 30 en cons, agrupados a mano en 8 categorías de RRHH (las mismas en pros y cons)</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8</a:t>
            </a:r>
          </a:p>
        </p:txBody>
      </p:sp>
      <p:pic>
        <p:nvPicPr>
          <p:cNvPr id="6" name="Picture 5" descr="07_topics_categorias_global.png"/>
          <p:cNvPicPr>
            <a:picLocks noChangeAspect="1"/>
          </p:cNvPicPr>
          <p:nvPr/>
        </p:nvPicPr>
        <p:blipFill>
          <a:blip r:embed="rId2"/>
          <a:stretch>
            <a:fillRect/>
          </a:stretch>
        </p:blipFill>
        <p:spPr>
          <a:xfrm>
            <a:off x="548640" y="1431005"/>
            <a:ext cx="6766560" cy="3264469"/>
          </a:xfrm>
          <a:prstGeom prst="rect">
            <a:avLst/>
          </a:prstGeom>
        </p:spPr>
      </p:pic>
      <p:graphicFrame>
        <p:nvGraphicFramePr>
          <p:cNvPr id="7" name="Table 6"/>
          <p:cNvGraphicFramePr>
            <a:graphicFrameLocks noGrp="1"/>
          </p:cNvGraphicFramePr>
          <p:nvPr/>
        </p:nvGraphicFramePr>
        <p:xfrm>
          <a:off x="7498079" y="1371600"/>
          <a:ext cx="4114800" cy="3383280"/>
        </p:xfrm>
        <a:graphic>
          <a:graphicData uri="http://schemas.openxmlformats.org/drawingml/2006/table">
            <a:tbl>
              <a:tblPr firstRow="1" bandRow="1">
                <a:tableStyleId>{5C22544A-7EE6-4342-B048-85BDC9FD1C3A}</a:tableStyleId>
              </a:tblPr>
              <a:tblGrid>
                <a:gridCol w="1828800"/>
                <a:gridCol w="2286000"/>
              </a:tblGrid>
              <a:tr h="375920">
                <a:tc>
                  <a:txBody>
                    <a:bodyPr/>
                    <a:lstStyle/>
                    <a:p>
                      <a:r>
                        <a:rPr sz="1000" b="1">
                          <a:solidFill>
                            <a:srgbClr val="FFFFFF"/>
                          </a:solidFill>
                          <a:latin typeface="Calibri"/>
                        </a:rPr>
                        <a:t>Categoría</a:t>
                      </a:r>
                    </a:p>
                  </a:txBody>
                  <a:tcPr marL="54864" marR="54864" marT="27432" marB="27432" anchor="ctr">
                    <a:solidFill>
                      <a:srgbClr val="0F4D24"/>
                    </a:solidFill>
                  </a:tcPr>
                </a:tc>
                <a:tc>
                  <a:txBody>
                    <a:bodyPr/>
                    <a:lstStyle/>
                    <a:p>
                      <a:r>
                        <a:rPr sz="1000" b="1">
                          <a:solidFill>
                            <a:srgbClr val="FFFFFF"/>
                          </a:solidFill>
                          <a:latin typeface="Calibri"/>
                        </a:rPr>
                        <a:t>Ejemplos de topics (palabras clave)</a:t>
                      </a:r>
                    </a:p>
                  </a:txBody>
                  <a:tcPr marL="54864" marR="54864" marT="27432" marB="27432" anchor="ctr">
                    <a:solidFill>
                      <a:srgbClr val="0F4D24"/>
                    </a:solidFill>
                  </a:tcPr>
                </a:tc>
              </a:tr>
              <a:tr h="375920">
                <a:tc>
                  <a:txBody>
                    <a:bodyPr/>
                    <a:lstStyle/>
                    <a:p>
                      <a:r>
                        <a:rPr sz="1000" b="1">
                          <a:solidFill>
                            <a:srgbClr val="212121"/>
                          </a:solidFill>
                          <a:latin typeface="Calibri"/>
                        </a:rPr>
                        <a:t>Carrera, formación y desarrollo</a:t>
                      </a:r>
                    </a:p>
                  </a:txBody>
                  <a:tcPr marL="54864" marR="54864" marT="27432" marB="27432" anchor="ctr">
                    <a:solidFill>
                      <a:srgbClr val="FFFFFF"/>
                    </a:solidFill>
                  </a:tcPr>
                </a:tc>
                <a:tc>
                  <a:txBody>
                    <a:bodyPr/>
                    <a:lstStyle/>
                    <a:p>
                      <a:r>
                        <a:rPr sz="1000" b="0">
                          <a:solidFill>
                            <a:srgbClr val="212121"/>
                          </a:solidFill>
                          <a:latin typeface="Calibri"/>
                        </a:rPr>
                        <a:t>career path · learning · training · promotions</a:t>
                      </a:r>
                    </a:p>
                  </a:txBody>
                  <a:tcPr marL="54864" marR="54864" marT="27432" marB="27432" anchor="ctr">
                    <a:solidFill>
                      <a:srgbClr val="FFFFFF"/>
                    </a:solidFill>
                  </a:tcPr>
                </a:tc>
              </a:tr>
              <a:tr h="375920">
                <a:tc>
                  <a:txBody>
                    <a:bodyPr/>
                    <a:lstStyle/>
                    <a:p>
                      <a:r>
                        <a:rPr sz="1000" b="1">
                          <a:solidFill>
                            <a:srgbClr val="212121"/>
                          </a:solidFill>
                          <a:latin typeface="Calibri"/>
                        </a:rPr>
                        <a:t>Cultura y compañeros</a:t>
                      </a:r>
                    </a:p>
                  </a:txBody>
                  <a:tcPr marL="54864" marR="54864" marT="27432" marB="27432" anchor="ctr">
                    <a:solidFill>
                      <a:srgbClr val="F2F2F2"/>
                    </a:solidFill>
                  </a:tcPr>
                </a:tc>
                <a:tc>
                  <a:txBody>
                    <a:bodyPr/>
                    <a:lstStyle/>
                    <a:p>
                      <a:r>
                        <a:rPr sz="1000" b="0">
                          <a:solidFill>
                            <a:srgbClr val="212121"/>
                          </a:solidFill>
                          <a:latin typeface="Calibri"/>
                        </a:rPr>
                        <a:t>work culture · team · colleagues · inclusive</a:t>
                      </a:r>
                    </a:p>
                  </a:txBody>
                  <a:tcPr marL="54864" marR="54864" marT="27432" marB="27432" anchor="ctr">
                    <a:solidFill>
                      <a:srgbClr val="F2F2F2"/>
                    </a:solidFill>
                  </a:tcPr>
                </a:tc>
              </a:tr>
              <a:tr h="375920">
                <a:tc>
                  <a:txBody>
                    <a:bodyPr/>
                    <a:lstStyle/>
                    <a:p>
                      <a:r>
                        <a:rPr sz="1000" b="1">
                          <a:solidFill>
                            <a:srgbClr val="212121"/>
                          </a:solidFill>
                          <a:latin typeface="Calibri"/>
                        </a:rPr>
                        <a:t>Conciliación y carga de trabajo</a:t>
                      </a:r>
                    </a:p>
                  </a:txBody>
                  <a:tcPr marL="54864" marR="54864" marT="27432" marB="27432" anchor="ctr">
                    <a:solidFill>
                      <a:srgbClr val="FFFFFF"/>
                    </a:solidFill>
                  </a:tcPr>
                </a:tc>
                <a:tc>
                  <a:txBody>
                    <a:bodyPr/>
                    <a:lstStyle/>
                    <a:p>
                      <a:r>
                        <a:rPr sz="1000" b="0">
                          <a:solidFill>
                            <a:srgbClr val="212121"/>
                          </a:solidFill>
                          <a:latin typeface="Calibri"/>
                        </a:rPr>
                        <a:t>long hours · work life balance · busy season · workload</a:t>
                      </a:r>
                    </a:p>
                  </a:txBody>
                  <a:tcPr marL="54864" marR="54864" marT="27432" marB="27432" anchor="ctr">
                    <a:solidFill>
                      <a:srgbClr val="FFFFFF"/>
                    </a:solidFill>
                  </a:tcPr>
                </a:tc>
              </a:tr>
              <a:tr h="375920">
                <a:tc>
                  <a:txBody>
                    <a:bodyPr/>
                    <a:lstStyle/>
                    <a:p>
                      <a:r>
                        <a:rPr sz="1000" b="1">
                          <a:solidFill>
                            <a:srgbClr val="212121"/>
                          </a:solidFill>
                          <a:latin typeface="Calibri"/>
                        </a:rPr>
                        <a:t>Compensación y beneficios</a:t>
                      </a:r>
                    </a:p>
                  </a:txBody>
                  <a:tcPr marL="54864" marR="54864" marT="27432" marB="27432" anchor="ctr">
                    <a:solidFill>
                      <a:srgbClr val="F2F2F2"/>
                    </a:solidFill>
                  </a:tcPr>
                </a:tc>
                <a:tc>
                  <a:txBody>
                    <a:bodyPr/>
                    <a:lstStyle/>
                    <a:p>
                      <a:r>
                        <a:rPr sz="1000" b="0">
                          <a:solidFill>
                            <a:srgbClr val="212121"/>
                          </a:solidFill>
                          <a:latin typeface="Calibri"/>
                        </a:rPr>
                        <a:t>salary · bonus · benefits · pay compared to market</a:t>
                      </a:r>
                    </a:p>
                  </a:txBody>
                  <a:tcPr marL="54864" marR="54864" marT="27432" marB="27432" anchor="ctr">
                    <a:solidFill>
                      <a:srgbClr val="F2F2F2"/>
                    </a:solidFill>
                  </a:tcPr>
                </a:tc>
              </a:tr>
              <a:tr h="375920">
                <a:tc>
                  <a:txBody>
                    <a:bodyPr/>
                    <a:lstStyle/>
                    <a:p>
                      <a:r>
                        <a:rPr sz="1000" b="1">
                          <a:solidFill>
                            <a:srgbClr val="212121"/>
                          </a:solidFill>
                          <a:latin typeface="Calibri"/>
                        </a:rPr>
                        <a:t>Dirección y management</a:t>
                      </a:r>
                    </a:p>
                  </a:txBody>
                  <a:tcPr marL="54864" marR="54864" marT="27432" marB="27432" anchor="ctr">
                    <a:solidFill>
                      <a:srgbClr val="FFFFFF"/>
                    </a:solidFill>
                  </a:tcPr>
                </a:tc>
                <a:tc>
                  <a:txBody>
                    <a:bodyPr/>
                    <a:lstStyle/>
                    <a:p>
                      <a:r>
                        <a:rPr sz="1000" b="0">
                          <a:solidFill>
                            <a:srgbClr val="212121"/>
                          </a:solidFill>
                          <a:latin typeface="Calibri"/>
                        </a:rPr>
                        <a:t>management · partners · seniors · leadership</a:t>
                      </a:r>
                    </a:p>
                  </a:txBody>
                  <a:tcPr marL="54864" marR="54864" marT="27432" marB="27432" anchor="ctr">
                    <a:solidFill>
                      <a:srgbClr val="FFFFFF"/>
                    </a:solidFill>
                  </a:tcPr>
                </a:tc>
              </a:tr>
              <a:tr h="375920">
                <a:tc>
                  <a:txBody>
                    <a:bodyPr/>
                    <a:lstStyle/>
                    <a:p>
                      <a:r>
                        <a:rPr sz="1000" b="1">
                          <a:solidFill>
                            <a:srgbClr val="212121"/>
                          </a:solidFill>
                          <a:latin typeface="Calibri"/>
                        </a:rPr>
                        <a:t>Marca, clientes y proyectos</a:t>
                      </a:r>
                    </a:p>
                  </a:txBody>
                  <a:tcPr marL="54864" marR="54864" marT="27432" marB="27432" anchor="ctr">
                    <a:solidFill>
                      <a:srgbClr val="F2F2F2"/>
                    </a:solidFill>
                  </a:tcPr>
                </a:tc>
                <a:tc>
                  <a:txBody>
                    <a:bodyPr/>
                    <a:lstStyle/>
                    <a:p>
                      <a:r>
                        <a:rPr sz="1000" b="0">
                          <a:solidFill>
                            <a:srgbClr val="212121"/>
                          </a:solidFill>
                          <a:latin typeface="Calibri"/>
                        </a:rPr>
                        <a:t>brand value · clients · projects · international</a:t>
                      </a:r>
                    </a:p>
                  </a:txBody>
                  <a:tcPr marL="54864" marR="54864" marT="27432" marB="27432" anchor="ctr">
                    <a:solidFill>
                      <a:srgbClr val="F2F2F2"/>
                    </a:solidFill>
                  </a:tcPr>
                </a:tc>
              </a:tr>
              <a:tr h="375920">
                <a:tc>
                  <a:txBody>
                    <a:bodyPr/>
                    <a:lstStyle/>
                    <a:p>
                      <a:r>
                        <a:rPr sz="1000" b="1">
                          <a:solidFill>
                            <a:srgbClr val="212121"/>
                          </a:solidFill>
                          <a:latin typeface="Calibri"/>
                        </a:rPr>
                        <a:t>Burocracia y política interna</a:t>
                      </a:r>
                    </a:p>
                  </a:txBody>
                  <a:tcPr marL="54864" marR="54864" marT="27432" marB="27432" anchor="ctr">
                    <a:solidFill>
                      <a:srgbClr val="FFFFFF"/>
                    </a:solidFill>
                  </a:tcPr>
                </a:tc>
                <a:tc>
                  <a:txBody>
                    <a:bodyPr/>
                    <a:lstStyle/>
                    <a:p>
                      <a:r>
                        <a:rPr sz="1000" b="0">
                          <a:solidFill>
                            <a:srgbClr val="212121"/>
                          </a:solidFill>
                          <a:latin typeface="Calibri"/>
                        </a:rPr>
                        <a:t>bureaucracy · hierarchy · office politics</a:t>
                      </a:r>
                    </a:p>
                  </a:txBody>
                  <a:tcPr marL="54864" marR="54864" marT="27432" marB="27432" anchor="ctr">
                    <a:solidFill>
                      <a:srgbClr val="FFFFFF"/>
                    </a:solidFill>
                  </a:tcPr>
                </a:tc>
              </a:tr>
              <a:tr h="375920">
                <a:tc>
                  <a:txBody>
                    <a:bodyPr/>
                    <a:lstStyle/>
                    <a:p>
                      <a:r>
                        <a:rPr sz="1000" b="1">
                          <a:solidFill>
                            <a:srgbClr val="212121"/>
                          </a:solidFill>
                          <a:latin typeface="Calibri"/>
                        </a:rPr>
                        <a:t>Flexibilidad y teletrabajo</a:t>
                      </a:r>
                    </a:p>
                  </a:txBody>
                  <a:tcPr marL="54864" marR="54864" marT="27432" marB="27432" anchor="ctr">
                    <a:solidFill>
                      <a:srgbClr val="F2F2F2"/>
                    </a:solidFill>
                  </a:tcPr>
                </a:tc>
                <a:tc>
                  <a:txBody>
                    <a:bodyPr/>
                    <a:lstStyle/>
                    <a:p>
                      <a:r>
                        <a:rPr sz="1000" b="0">
                          <a:solidFill>
                            <a:srgbClr val="212121"/>
                          </a:solidFill>
                          <a:latin typeface="Calibri"/>
                        </a:rPr>
                        <a:t>flexible working · work from home · travel</a:t>
                      </a:r>
                    </a:p>
                  </a:txBody>
                  <a:tcPr marL="54864" marR="54864" marT="27432" marB="27432" anchor="ctr">
                    <a:solidFill>
                      <a:srgbClr val="F2F2F2"/>
                    </a:solidFill>
                  </a:tcPr>
                </a:tc>
              </a:tr>
            </a:tbl>
          </a:graphicData>
        </a:graphic>
      </p:graphicFrame>
      <p:sp>
        <p:nvSpPr>
          <p:cNvPr id="8" name="TextBox 7"/>
          <p:cNvSpPr txBox="1"/>
          <p:nvPr/>
        </p:nvSpPr>
        <p:spPr>
          <a:xfrm>
            <a:off x="548640" y="4892040"/>
            <a:ext cx="11064240" cy="1417320"/>
          </a:xfrm>
          <a:prstGeom prst="rect">
            <a:avLst/>
          </a:prstGeom>
          <a:noFill/>
        </p:spPr>
        <p:txBody>
          <a:bodyPr wrap="square" lIns="45720" rIns="45720">
            <a:spAutoFit/>
          </a:bodyPr>
          <a:lstStyle/>
          <a:p>
            <a:pPr>
              <a:lnSpc>
                <a:spcPct val="108000"/>
              </a:lnSpc>
              <a:spcAft>
                <a:spcPts val="600"/>
              </a:spcAft>
            </a:pPr>
            <a:r>
              <a:rPr sz="1300" b="1">
                <a:solidFill>
                  <a:srgbClr val="1B7F3B"/>
                </a:solidFill>
                <a:latin typeface="Calibri"/>
              </a:rPr>
              <a:t>• </a:t>
            </a:r>
            <a:r>
              <a:rPr b="1" sz="1300">
                <a:solidFill>
                  <a:srgbClr val="212121"/>
                </a:solidFill>
                <a:latin typeface="Calibri"/>
              </a:rPr>
              <a:t>Los pros son "de serie" en el sector: </a:t>
            </a:r>
            <a:r>
              <a:rPr sz="1300">
                <a:solidFill>
                  <a:srgbClr val="212121"/>
                </a:solidFill>
                <a:latin typeface="Calibri"/>
              </a:rPr>
              <a:t>carrera y aprendizaje (32 %) y cultura y compañeros (29 %) en las cuatro firmas.</a:t>
            </a:r>
          </a:p>
          <a:p>
            <a:pPr>
              <a:lnSpc>
                <a:spcPct val="108000"/>
              </a:lnSpc>
              <a:spcAft>
                <a:spcPts val="600"/>
              </a:spcAft>
            </a:pPr>
            <a:r>
              <a:rPr sz="1300" b="1">
                <a:solidFill>
                  <a:srgbClr val="1B7F3B"/>
                </a:solidFill>
                <a:latin typeface="Calibri"/>
              </a:rPr>
              <a:t>• </a:t>
            </a:r>
            <a:r>
              <a:rPr b="1" sz="1300">
                <a:solidFill>
                  <a:srgbClr val="212121"/>
                </a:solidFill>
                <a:latin typeface="Calibri"/>
              </a:rPr>
              <a:t>Los cons los dominan la carga de trabajo (33 %) y el salario (19 %); </a:t>
            </a:r>
            <a:r>
              <a:rPr sz="1300">
                <a:solidFill>
                  <a:srgbClr val="212121"/>
                </a:solidFill>
                <a:latin typeface="Calibri"/>
              </a:rPr>
              <a:t>el 8 % de los cons no encuentran nada que criticar (Sin contenido).</a:t>
            </a:r>
          </a:p>
          <a:p>
            <a:pPr>
              <a:lnSpc>
                <a:spcPct val="108000"/>
              </a:lnSpc>
              <a:spcAft>
                <a:spcPts val="600"/>
              </a:spcAft>
            </a:pPr>
            <a:r>
              <a:rPr sz="1300" b="1">
                <a:solidFill>
                  <a:srgbClr val="1B7F3B"/>
                </a:solidFill>
                <a:latin typeface="Calibri"/>
              </a:rPr>
              <a:t>• </a:t>
            </a:r>
            <a:r>
              <a:rPr b="1" sz="1300">
                <a:solidFill>
                  <a:srgbClr val="212121"/>
                </a:solidFill>
                <a:latin typeface="Calibri"/>
              </a:rPr>
              <a:t>Validación de la revisión manual: </a:t>
            </a:r>
            <a:r>
              <a:rPr sz="1300">
                <a:solidFill>
                  <a:srgbClr val="212121"/>
                </a:solidFill>
                <a:latin typeface="Calibri"/>
              </a:rPr>
              <a:t>una regla automática por léxico coincide con mi asignación en el 82-83 % de los topics; las discrepancias son topics mixtos resueltos leyendo las reseñas.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Comparación con peers · Dónde difiere Deloitte</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Balance neto = % en pros − % en cons, por categoría; gap = balance de Deloitte − media de PwC, EY y KPMG</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9</a:t>
            </a:r>
          </a:p>
        </p:txBody>
      </p:sp>
      <p:pic>
        <p:nvPicPr>
          <p:cNvPr id="6" name="Picture 5" descr="10_balance_neto_y_gap.png"/>
          <p:cNvPicPr>
            <a:picLocks noChangeAspect="1"/>
          </p:cNvPicPr>
          <p:nvPr/>
        </p:nvPicPr>
        <p:blipFill>
          <a:blip r:embed="rId2"/>
          <a:stretch>
            <a:fillRect/>
          </a:stretch>
        </p:blipFill>
        <p:spPr>
          <a:xfrm>
            <a:off x="998081" y="1371600"/>
            <a:ext cx="10165356" cy="3200400"/>
          </a:xfrm>
          <a:prstGeom prst="rect">
            <a:avLst/>
          </a:prstGeom>
        </p:spPr>
      </p:pic>
      <p:sp>
        <p:nvSpPr>
          <p:cNvPr id="7" name="TextBox 6"/>
          <p:cNvSpPr txBox="1"/>
          <p:nvPr/>
        </p:nvSpPr>
        <p:spPr>
          <a:xfrm>
            <a:off x="548640" y="4663440"/>
            <a:ext cx="11064240" cy="1645920"/>
          </a:xfrm>
          <a:prstGeom prst="rect">
            <a:avLst/>
          </a:prstGeom>
          <a:noFill/>
        </p:spPr>
        <p:txBody>
          <a:bodyPr wrap="square" lIns="45720" rIns="45720">
            <a:spAutoFit/>
          </a:bodyPr>
          <a:lstStyle/>
          <a:p>
            <a:pPr>
              <a:lnSpc>
                <a:spcPct val="108000"/>
              </a:lnSpc>
              <a:spcAft>
                <a:spcPts val="600"/>
              </a:spcAft>
            </a:pPr>
            <a:r>
              <a:rPr sz="1300" b="1">
                <a:solidFill>
                  <a:srgbClr val="1B7F3B"/>
                </a:solidFill>
                <a:latin typeface="Calibri"/>
              </a:rPr>
              <a:t>• </a:t>
            </a:r>
            <a:r>
              <a:rPr b="1" sz="1300">
                <a:solidFill>
                  <a:srgbClr val="212121"/>
                </a:solidFill>
                <a:latin typeface="Calibri"/>
              </a:rPr>
              <a:t>Conciliación (+6,3 pp) y compensación (+3,8 pp) son fortalezas relativas: </a:t>
            </a:r>
            <a:r>
              <a:rPr sz="1300">
                <a:solidFill>
                  <a:srgbClr val="212121"/>
                </a:solidFill>
                <a:latin typeface="Calibri"/>
              </a:rPr>
              <a:t>siguen siendo las mayores quejas (29 % y 17 % de los cons), pero bastante menos que en los peers (34 % y 19 %), y con más elogios. La mejor relación esfuerzo-recompensa del grupo.</a:t>
            </a:r>
          </a:p>
          <a:p>
            <a:pPr>
              <a:lnSpc>
                <a:spcPct val="108000"/>
              </a:lnSpc>
              <a:spcAft>
                <a:spcPts val="600"/>
              </a:spcAft>
            </a:pPr>
            <a:r>
              <a:rPr sz="1300" b="1">
                <a:solidFill>
                  <a:srgbClr val="1B7F3B"/>
                </a:solidFill>
                <a:latin typeface="Calibri"/>
              </a:rPr>
              <a:t>• </a:t>
            </a:r>
            <a:r>
              <a:rPr b="1" sz="1300">
                <a:solidFill>
                  <a:srgbClr val="212121"/>
                </a:solidFill>
                <a:latin typeface="Calibri"/>
              </a:rPr>
              <a:t>Marca, clientes y proyectos (−4,6 pp) es la única debilidad clara: </a:t>
            </a:r>
            <a:r>
              <a:rPr sz="1300">
                <a:solidFill>
                  <a:srgbClr val="212121"/>
                </a:solidFill>
                <a:latin typeface="Calibri"/>
              </a:rPr>
              <a:t>las quejas sobre asignación y calidad de los proyectos (tecnología obsoleta, falta de rotación, poco cliente) suponen el 11,2 % de los cons frente al 7,2 % en los peers, y crecen (9,6 % → 14,1 %).</a:t>
            </a:r>
          </a:p>
          <a:p>
            <a:pPr>
              <a:lnSpc>
                <a:spcPct val="108000"/>
              </a:lnSpc>
              <a:spcAft>
                <a:spcPts val="600"/>
              </a:spcAft>
            </a:pPr>
            <a:r>
              <a:rPr sz="1300" b="1">
                <a:solidFill>
                  <a:srgbClr val="1B7F3B"/>
                </a:solidFill>
                <a:latin typeface="Calibri"/>
              </a:rPr>
              <a:t>• </a:t>
            </a:r>
            <a:r>
              <a:rPr b="1" sz="1300">
                <a:solidFill>
                  <a:srgbClr val="212121"/>
                </a:solidFill>
                <a:latin typeface="Calibri"/>
              </a:rPr>
              <a:t>El resto (carrera, dirección, burocracia, cultura, flexibilidad) está en la media del sector </a:t>
            </a:r>
            <a:r>
              <a:rPr sz="1300">
                <a:solidFill>
                  <a:srgbClr val="212121"/>
                </a:solidFill>
                <a:latin typeface="Calibri"/>
              </a:rPr>
              <a:t>(gaps ≤ 1,5 pp). Por qué el balance neto: los porcentajes suman 100 % y son relativos.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2600" b="1" i="0">
                <a:solidFill>
                  <a:srgbClr val="0F4D24"/>
                </a:solidFill>
                <a:latin typeface="Cambria"/>
              </a:rPr>
              <a:t>¿Qué quejas pesan de verdad? Contraste con el rating</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Rating medio de las reseñas de Deloitte cuyo con cae en cada categoría (media de la firma: 3,90)</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10</a:t>
            </a:r>
          </a:p>
        </p:txBody>
      </p:sp>
      <p:pic>
        <p:nvPicPr>
          <p:cNvPr id="6" name="Picture 5" descr="12_contraste_rating_por_categoria_cons.png"/>
          <p:cNvPicPr>
            <a:picLocks noChangeAspect="1"/>
          </p:cNvPicPr>
          <p:nvPr/>
        </p:nvPicPr>
        <p:blipFill>
          <a:blip r:embed="rId2"/>
          <a:stretch>
            <a:fillRect/>
          </a:stretch>
        </p:blipFill>
        <p:spPr>
          <a:xfrm>
            <a:off x="548640" y="1448370"/>
            <a:ext cx="6949440" cy="3412618"/>
          </a:xfrm>
          <a:prstGeom prst="rect">
            <a:avLst/>
          </a:prstGeom>
        </p:spPr>
      </p:pic>
      <p:sp>
        <p:nvSpPr>
          <p:cNvPr id="7" name="Rounded Rectangle 6"/>
          <p:cNvSpPr/>
          <p:nvPr/>
        </p:nvSpPr>
        <p:spPr>
          <a:xfrm>
            <a:off x="7772400" y="1371600"/>
            <a:ext cx="3840480" cy="489204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463040"/>
            <a:ext cx="356616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Lectura</a:t>
            </a:r>
          </a:p>
        </p:txBody>
      </p:sp>
      <p:sp>
        <p:nvSpPr>
          <p:cNvPr id="9" name="TextBox 8"/>
          <p:cNvSpPr txBox="1"/>
          <p:nvPr/>
        </p:nvSpPr>
        <p:spPr>
          <a:xfrm>
            <a:off x="7909560" y="1874519"/>
            <a:ext cx="3566160" cy="4297680"/>
          </a:xfrm>
          <a:prstGeom prst="rect">
            <a:avLst/>
          </a:prstGeom>
          <a:noFill/>
        </p:spPr>
        <p:txBody>
          <a:bodyPr wrap="square" lIns="45720" rIns="45720">
            <a:spAutoFit/>
          </a:bodyPr>
          <a:lstStyle/>
          <a:p>
            <a:pPr>
              <a:lnSpc>
                <a:spcPct val="108000"/>
              </a:lnSpc>
              <a:spcAft>
                <a:spcPts val="400"/>
              </a:spcAft>
            </a:pPr>
            <a:r>
              <a:rPr sz="1300" b="1">
                <a:solidFill>
                  <a:srgbClr val="1B7F3B"/>
                </a:solidFill>
                <a:latin typeface="Calibri"/>
              </a:rPr>
              <a:t>• </a:t>
            </a:r>
            <a:r>
              <a:rPr b="1" sz="1300">
                <a:solidFill>
                  <a:srgbClr val="212121"/>
                </a:solidFill>
                <a:latin typeface="Calibri"/>
              </a:rPr>
              <a:t>Dirección y management: </a:t>
            </a:r>
            <a:r>
              <a:rPr sz="1300">
                <a:solidFill>
                  <a:srgbClr val="212121"/>
                </a:solidFill>
                <a:latin typeface="Calibri"/>
              </a:rPr>
              <a:t>rating 3,46 (−0,44) y el 24 % no recomienda (13 % en general). Cultura: 3,40 (pocos casos).</a:t>
            </a:r>
          </a:p>
          <a:p>
            <a:pPr>
              <a:lnSpc>
                <a:spcPct val="108000"/>
              </a:lnSpc>
              <a:spcAft>
                <a:spcPts val="400"/>
              </a:spcAft>
            </a:pPr>
            <a:r>
              <a:rPr sz="1300" b="1">
                <a:solidFill>
                  <a:srgbClr val="1B7F3B"/>
                </a:solidFill>
                <a:latin typeface="Calibri"/>
              </a:rPr>
              <a:t>• </a:t>
            </a:r>
            <a:r>
              <a:rPr b="1" sz="1300">
                <a:solidFill>
                  <a:srgbClr val="212121"/>
                </a:solidFill>
                <a:latin typeface="Calibri"/>
              </a:rPr>
              <a:t>Burocracia (3,69), compensación (3,73) y carrera (3,75): </a:t>
            </a:r>
            <a:r>
              <a:rPr sz="1300">
                <a:solidFill>
                  <a:srgbClr val="212121"/>
                </a:solidFill>
                <a:latin typeface="Calibri"/>
              </a:rPr>
              <a:t>castigo moderado.</a:t>
            </a:r>
          </a:p>
          <a:p>
            <a:pPr>
              <a:lnSpc>
                <a:spcPct val="108000"/>
              </a:lnSpc>
              <a:spcAft>
                <a:spcPts val="400"/>
              </a:spcAft>
            </a:pPr>
            <a:r>
              <a:rPr sz="1300" b="1">
                <a:solidFill>
                  <a:srgbClr val="1B7F3B"/>
                </a:solidFill>
                <a:latin typeface="Calibri"/>
              </a:rPr>
              <a:t>• </a:t>
            </a:r>
            <a:r>
              <a:rPr b="1" sz="1300">
                <a:solidFill>
                  <a:srgbClr val="212121"/>
                </a:solidFill>
                <a:latin typeface="Calibri"/>
              </a:rPr>
              <a:t>Conciliación: 4,02, por encima de la media, </a:t>
            </a:r>
            <a:r>
              <a:rPr sz="1300">
                <a:solidFill>
                  <a:srgbClr val="212121"/>
                </a:solidFill>
                <a:latin typeface="Calibri"/>
              </a:rPr>
              <a:t>y recomienda igual que el resto. Las horas se asumen como "parte del trato" Big Four.</a:t>
            </a:r>
          </a:p>
          <a:p>
            <a:pPr>
              <a:lnSpc>
                <a:spcPct val="108000"/>
              </a:lnSpc>
              <a:spcAft>
                <a:spcPts val="400"/>
              </a:spcAft>
            </a:pPr>
            <a:r>
              <a:rPr sz="1300" b="1">
                <a:solidFill>
                  <a:srgbClr val="1B7F3B"/>
                </a:solidFill>
                <a:latin typeface="Calibri"/>
              </a:rPr>
              <a:t>• </a:t>
            </a:r>
            <a:r>
              <a:rPr b="1" sz="1300">
                <a:solidFill>
                  <a:srgbClr val="212121"/>
                </a:solidFill>
                <a:latin typeface="Calibri"/>
              </a:rPr>
              <a:t>Proyectos: 3,87, </a:t>
            </a:r>
            <a:r>
              <a:rPr sz="1300">
                <a:solidFill>
                  <a:srgbClr val="212121"/>
                </a:solidFill>
                <a:latin typeface="Calibri"/>
              </a:rPr>
              <a:t>apenas castiga el rating, pero pesa entre quienes se van.</a:t>
            </a:r>
          </a:p>
          <a:p>
            <a:pPr>
              <a:lnSpc>
                <a:spcPct val="108000"/>
              </a:lnSpc>
              <a:spcAft>
                <a:spcPts val="400"/>
              </a:spcAft>
            </a:pPr>
            <a:r>
              <a:rPr sz="1300" b="1">
                <a:solidFill>
                  <a:srgbClr val="1B7F3B"/>
                </a:solidFill>
                <a:latin typeface="Calibri"/>
              </a:rPr>
              <a:t>• </a:t>
            </a:r>
            <a:r>
              <a:rPr b="1" sz="1300">
                <a:solidFill>
                  <a:srgbClr val="212121"/>
                </a:solidFill>
                <a:latin typeface="Calibri"/>
              </a:rPr>
              <a:t>Conclusión: </a:t>
            </a:r>
            <a:r>
              <a:rPr sz="1300">
                <a:solidFill>
                  <a:srgbClr val="212121"/>
                </a:solidFill>
                <a:latin typeface="Calibri"/>
              </a:rPr>
              <a:t>la conciliación es la queja más frecuente; la calidad directiva, la más dañina.</a:t>
            </a:r>
          </a:p>
        </p:txBody>
      </p:sp>
      <p:sp>
        <p:nvSpPr>
          <p:cNvPr id="10" name="TextBox 9"/>
          <p:cNvSpPr txBox="1"/>
          <p:nvPr/>
        </p:nvSpPr>
        <p:spPr>
          <a:xfrm>
            <a:off x="548640" y="5029200"/>
            <a:ext cx="6949440" cy="1280160"/>
          </a:xfrm>
          <a:prstGeom prst="rect">
            <a:avLst/>
          </a:prstGeom>
          <a:noFill/>
        </p:spPr>
        <p:txBody>
          <a:bodyPr wrap="square" lIns="45720" rIns="45720">
            <a:spAutoFit/>
          </a:bodyPr>
          <a:lstStyle/>
          <a:p>
            <a:pPr>
              <a:lnSpc>
                <a:spcPct val="108000"/>
              </a:lnSpc>
              <a:spcAft>
                <a:spcPts val="600"/>
              </a:spcAft>
            </a:pPr>
            <a:r>
              <a:rPr sz="1300" b="1">
                <a:solidFill>
                  <a:srgbClr val="1B7F3B"/>
                </a:solidFill>
                <a:latin typeface="Calibri"/>
              </a:rPr>
              <a:t>• </a:t>
            </a:r>
            <a:r>
              <a:rPr b="1" sz="1300">
                <a:solidFill>
                  <a:srgbClr val="212121"/>
                </a:solidFill>
                <a:latin typeface="Calibri"/>
              </a:rPr>
              <a:t>Quienes NO recomiendan Deloitte </a:t>
            </a:r>
            <a:r>
              <a:rPr sz="1300">
                <a:solidFill>
                  <a:srgbClr val="212121"/>
                </a:solidFill>
                <a:latin typeface="Calibri"/>
              </a:rPr>
              <a:t>se quejan de dirección (19,7 % de sus cons vs. 8,4 % entre quienes sí recomiendan) y cultura (8,4 % vs. 2,6 %), y menos de conciliación (18,9 % vs. 29,1 %).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2600" b="1" i="0">
                <a:solidFill>
                  <a:srgbClr val="0F4D24"/>
                </a:solidFill>
                <a:latin typeface="Cambria"/>
              </a:rPr>
              <a:t>Empleados actuales vs. antiguos · Motivos de salida</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Los cons de quienes ya se han ido son, en la práctica, motivos de salida (comparación de temas, no de sentimiento)</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11</a:t>
            </a:r>
          </a:p>
        </p:txBody>
      </p:sp>
      <p:pic>
        <p:nvPicPr>
          <p:cNvPr id="6" name="Picture 5" descr="13_cons_actuales_vs_antiguos_target.png"/>
          <p:cNvPicPr>
            <a:picLocks noChangeAspect="1"/>
          </p:cNvPicPr>
          <p:nvPr/>
        </p:nvPicPr>
        <p:blipFill>
          <a:blip r:embed="rId2"/>
          <a:stretch>
            <a:fillRect/>
          </a:stretch>
        </p:blipFill>
        <p:spPr>
          <a:xfrm>
            <a:off x="548640" y="1420522"/>
            <a:ext cx="6949440" cy="3559755"/>
          </a:xfrm>
          <a:prstGeom prst="rect">
            <a:avLst/>
          </a:prstGeom>
        </p:spPr>
      </p:pic>
      <p:sp>
        <p:nvSpPr>
          <p:cNvPr id="7" name="Rounded Rectangle 6"/>
          <p:cNvSpPr/>
          <p:nvPr/>
        </p:nvSpPr>
        <p:spPr>
          <a:xfrm>
            <a:off x="7772400" y="1371600"/>
            <a:ext cx="3840480" cy="4892040"/>
          </a:xfrm>
          <a:prstGeom prst="roundRect">
            <a:avLst>
              <a:gd name="adj" fmla="val 8000"/>
            </a:avLst>
          </a:prstGeom>
          <a:solidFill>
            <a:srgbClr val="F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463040"/>
            <a:ext cx="3566160" cy="411480"/>
          </a:xfrm>
          <a:prstGeom prst="rect">
            <a:avLst/>
          </a:prstGeom>
          <a:noFill/>
        </p:spPr>
        <p:txBody>
          <a:bodyPr wrap="square" anchor="t" lIns="45720" rIns="45720">
            <a:spAutoFit/>
          </a:bodyPr>
          <a:lstStyle/>
          <a:p>
            <a:pPr algn="l">
              <a:lnSpc>
                <a:spcPct val="110000"/>
              </a:lnSpc>
            </a:pPr>
            <a:r>
              <a:rPr sz="1500" b="1" i="0">
                <a:solidFill>
                  <a:srgbClr val="B22222"/>
                </a:solidFill>
                <a:latin typeface="Calibri"/>
              </a:rPr>
              <a:t>Lo que distingue a quien se va</a:t>
            </a:r>
          </a:p>
        </p:txBody>
      </p:sp>
      <p:sp>
        <p:nvSpPr>
          <p:cNvPr id="9" name="TextBox 8"/>
          <p:cNvSpPr txBox="1"/>
          <p:nvPr/>
        </p:nvSpPr>
        <p:spPr>
          <a:xfrm>
            <a:off x="7909560" y="1874519"/>
            <a:ext cx="3566160" cy="4297680"/>
          </a:xfrm>
          <a:prstGeom prst="rect">
            <a:avLst/>
          </a:prstGeom>
          <a:noFill/>
        </p:spPr>
        <p:txBody>
          <a:bodyPr wrap="square" lIns="45720" rIns="45720">
            <a:spAutoFit/>
          </a:bodyPr>
          <a:lstStyle/>
          <a:p>
            <a:pPr>
              <a:lnSpc>
                <a:spcPct val="108000"/>
              </a:lnSpc>
              <a:spcAft>
                <a:spcPts val="400"/>
              </a:spcAft>
            </a:pPr>
            <a:r>
              <a:rPr sz="1300" b="1">
                <a:solidFill>
                  <a:srgbClr val="1B7F3B"/>
                </a:solidFill>
                <a:latin typeface="Calibri"/>
              </a:rPr>
              <a:t>• </a:t>
            </a:r>
            <a:r>
              <a:rPr b="1" sz="1300">
                <a:solidFill>
                  <a:srgbClr val="212121"/>
                </a:solidFill>
                <a:latin typeface="Calibri"/>
              </a:rPr>
              <a:t>Dirección y management: </a:t>
            </a:r>
            <a:r>
              <a:rPr sz="1300">
                <a:solidFill>
                  <a:srgbClr val="212121"/>
                </a:solidFill>
                <a:latin typeface="Calibri"/>
              </a:rPr>
              <a:t>del 8,2 % de los cons de los actuales al 14,0 % de los antiguos (+5,8 pp). Cultura: del 2,8 % al 4,6 %.</a:t>
            </a:r>
          </a:p>
          <a:p>
            <a:pPr>
              <a:lnSpc>
                <a:spcPct val="108000"/>
              </a:lnSpc>
              <a:spcAft>
                <a:spcPts val="400"/>
              </a:spcAft>
            </a:pPr>
            <a:r>
              <a:rPr sz="1300" b="1">
                <a:solidFill>
                  <a:srgbClr val="1B7F3B"/>
                </a:solidFill>
                <a:latin typeface="Calibri"/>
              </a:rPr>
              <a:t>• </a:t>
            </a:r>
            <a:r>
              <a:rPr b="1" sz="1300">
                <a:solidFill>
                  <a:srgbClr val="212121"/>
                </a:solidFill>
                <a:latin typeface="Calibri"/>
              </a:rPr>
              <a:t>Salario y horas pesan menos entre los que se fueron </a:t>
            </a:r>
            <a:r>
              <a:rPr sz="1300">
                <a:solidFill>
                  <a:srgbClr val="212121"/>
                </a:solidFill>
                <a:latin typeface="Calibri"/>
              </a:rPr>
              <a:t>(17,7 → 15,2 % y 29,6 → 28,0 %).</a:t>
            </a:r>
          </a:p>
          <a:p>
            <a:pPr>
              <a:lnSpc>
                <a:spcPct val="108000"/>
              </a:lnSpc>
              <a:spcAft>
                <a:spcPts val="400"/>
              </a:spcAft>
            </a:pPr>
            <a:r>
              <a:rPr sz="1300" b="1">
                <a:solidFill>
                  <a:srgbClr val="1B7F3B"/>
                </a:solidFill>
                <a:latin typeface="Calibri"/>
              </a:rPr>
              <a:t>• </a:t>
            </a:r>
            <a:r>
              <a:rPr b="1" sz="1300">
                <a:solidFill>
                  <a:srgbClr val="212121"/>
                </a:solidFill>
                <a:latin typeface="Calibri"/>
              </a:rPr>
              <a:t>Frente a los antiguos empleados de los peers: </a:t>
            </a:r>
            <a:r>
              <a:rPr sz="1300">
                <a:solidFill>
                  <a:srgbClr val="212121"/>
                </a:solidFill>
                <a:latin typeface="Calibri"/>
              </a:rPr>
              <a:t>menos conciliación (28,0 % vs. 34,2 %), más proyectos (10,8 % vs. 6,4 %) y más dirección (14,0 % vs. 11,5 %).</a:t>
            </a:r>
          </a:p>
          <a:p>
            <a:pPr>
              <a:lnSpc>
                <a:spcPct val="108000"/>
              </a:lnSpc>
              <a:spcAft>
                <a:spcPts val="400"/>
              </a:spcAft>
            </a:pPr>
            <a:r>
              <a:rPr sz="1300" b="1">
                <a:solidFill>
                  <a:srgbClr val="1B7F3B"/>
                </a:solidFill>
                <a:latin typeface="Calibri"/>
              </a:rPr>
              <a:t>• </a:t>
            </a:r>
            <a:r>
              <a:rPr b="1" sz="1300">
                <a:solidFill>
                  <a:srgbClr val="212121"/>
                </a:solidFill>
                <a:latin typeface="Calibri"/>
              </a:rPr>
              <a:t>En los pros, los que se fueron valoran la marca ("bueno para el CV") </a:t>
            </a:r>
            <a:r>
              <a:rPr sz="1300">
                <a:solidFill>
                  <a:srgbClr val="212121"/>
                </a:solidFill>
                <a:latin typeface="Calibri"/>
              </a:rPr>
              <a:t>y casi no la flexibilidad (2,5 % vs. 6,8 % de los actuales): la flexibilidad actual retiene.</a:t>
            </a:r>
          </a:p>
        </p:txBody>
      </p:sp>
      <p:sp>
        <p:nvSpPr>
          <p:cNvPr id="10" name="TextBox 9"/>
          <p:cNvSpPr txBox="1"/>
          <p:nvPr/>
        </p:nvSpPr>
        <p:spPr>
          <a:xfrm>
            <a:off x="548640" y="5120640"/>
            <a:ext cx="6949440" cy="1188720"/>
          </a:xfrm>
          <a:prstGeom prst="rect">
            <a:avLst/>
          </a:prstGeom>
          <a:noFill/>
        </p:spPr>
        <p:txBody>
          <a:bodyPr wrap="square" lIns="45720" rIns="45720">
            <a:spAutoFit/>
          </a:bodyPr>
          <a:lstStyle/>
          <a:p>
            <a:pPr>
              <a:lnSpc>
                <a:spcPct val="108000"/>
              </a:lnSpc>
              <a:spcAft>
                <a:spcPts val="600"/>
              </a:spcAft>
            </a:pPr>
            <a:r>
              <a:rPr sz="1300" b="1">
                <a:solidFill>
                  <a:srgbClr val="1B7F3B"/>
                </a:solidFill>
                <a:latin typeface="Calibri"/>
              </a:rPr>
              <a:t>• </a:t>
            </a:r>
            <a:r>
              <a:rPr b="1" sz="1300">
                <a:solidFill>
                  <a:srgbClr val="212121"/>
                </a:solidFill>
                <a:latin typeface="Calibri"/>
              </a:rPr>
              <a:t>Lectura para RRHH: </a:t>
            </a:r>
            <a:r>
              <a:rPr sz="1300">
                <a:solidFill>
                  <a:srgbClr val="212121"/>
                </a:solidFill>
                <a:latin typeface="Calibri"/>
              </a:rPr>
              <a:t>los motivos de salida específicos de Deloitte no son ni el salario ni las horas, sino la relación con managers y partners y la asignación de proyectos: palancas accionables sin cambiar el modelo de negocio.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Matriz de priorización de áreas de mejora</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Peso de cada categoría en los cons de Deloitte × desventaja frente a los peers; tamaño = castigo en el rating</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12</a:t>
            </a:r>
          </a:p>
        </p:txBody>
      </p:sp>
      <p:pic>
        <p:nvPicPr>
          <p:cNvPr id="6" name="Picture 5" descr="15_matriz_priorizacion.png"/>
          <p:cNvPicPr>
            <a:picLocks noChangeAspect="1"/>
          </p:cNvPicPr>
          <p:nvPr/>
        </p:nvPicPr>
        <p:blipFill>
          <a:blip r:embed="rId2"/>
          <a:stretch>
            <a:fillRect/>
          </a:stretch>
        </p:blipFill>
        <p:spPr>
          <a:xfrm>
            <a:off x="548640" y="1652104"/>
            <a:ext cx="6766560" cy="4331030"/>
          </a:xfrm>
          <a:prstGeom prst="rect">
            <a:avLst/>
          </a:prstGeom>
        </p:spPr>
      </p:pic>
      <p:sp>
        <p:nvSpPr>
          <p:cNvPr id="7" name="Rounded Rectangle 6"/>
          <p:cNvSpPr/>
          <p:nvPr/>
        </p:nvSpPr>
        <p:spPr>
          <a:xfrm>
            <a:off x="7498079" y="1371600"/>
            <a:ext cx="4114800" cy="1554480"/>
          </a:xfrm>
          <a:prstGeom prst="roundRect">
            <a:avLst>
              <a:gd name="adj" fmla="val 8000"/>
            </a:avLst>
          </a:prstGeom>
          <a:solidFill>
            <a:srgbClr val="F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40" y="1463040"/>
            <a:ext cx="3840480" cy="411480"/>
          </a:xfrm>
          <a:prstGeom prst="rect">
            <a:avLst/>
          </a:prstGeom>
          <a:noFill/>
        </p:spPr>
        <p:txBody>
          <a:bodyPr wrap="square" anchor="t" lIns="45720" rIns="45720">
            <a:spAutoFit/>
          </a:bodyPr>
          <a:lstStyle/>
          <a:p>
            <a:pPr algn="l">
              <a:lnSpc>
                <a:spcPct val="110000"/>
              </a:lnSpc>
            </a:pPr>
            <a:r>
              <a:rPr sz="1500" b="1" i="0">
                <a:solidFill>
                  <a:srgbClr val="B22222"/>
                </a:solidFill>
                <a:latin typeface="Calibri"/>
              </a:rPr>
              <a:t>Prioridad alta</a:t>
            </a:r>
          </a:p>
        </p:txBody>
      </p:sp>
      <p:sp>
        <p:nvSpPr>
          <p:cNvPr id="9" name="TextBox 8"/>
          <p:cNvSpPr txBox="1"/>
          <p:nvPr/>
        </p:nvSpPr>
        <p:spPr>
          <a:xfrm>
            <a:off x="7635240" y="1874519"/>
            <a:ext cx="3840480" cy="96012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Dirección y management: </a:t>
            </a:r>
            <a:r>
              <a:rPr sz="1200">
                <a:solidFill>
                  <a:srgbClr val="212121"/>
                </a:solidFill>
                <a:latin typeface="Calibri"/>
              </a:rPr>
              <a:t>mayor castigo, principal motivo de salida.</a:t>
            </a:r>
          </a:p>
          <a:p>
            <a:pPr>
              <a:lnSpc>
                <a:spcPct val="108000"/>
              </a:lnSpc>
              <a:spcAft>
                <a:spcPts val="400"/>
              </a:spcAft>
            </a:pPr>
            <a:r>
              <a:rPr sz="1200" b="1">
                <a:solidFill>
                  <a:srgbClr val="1B7F3B"/>
                </a:solidFill>
                <a:latin typeface="Calibri"/>
              </a:rPr>
              <a:t>• </a:t>
            </a:r>
            <a:r>
              <a:rPr b="1" sz="1200">
                <a:solidFill>
                  <a:srgbClr val="212121"/>
                </a:solidFill>
                <a:latin typeface="Calibri"/>
              </a:rPr>
              <a:t>Asignación y calidad de proyectos: </a:t>
            </a:r>
            <a:r>
              <a:rPr sz="1200">
                <a:solidFill>
                  <a:srgbClr val="212121"/>
                </a:solidFill>
                <a:latin typeface="Calibri"/>
              </a:rPr>
              <a:t>peor que el mercado y en aumento.</a:t>
            </a:r>
          </a:p>
        </p:txBody>
      </p:sp>
      <p:sp>
        <p:nvSpPr>
          <p:cNvPr id="10" name="Rounded Rectangle 9"/>
          <p:cNvSpPr/>
          <p:nvPr/>
        </p:nvSpPr>
        <p:spPr>
          <a:xfrm>
            <a:off x="7498079" y="3063240"/>
            <a:ext cx="4114800" cy="1463040"/>
          </a:xfrm>
          <a:prstGeom prst="roundRect">
            <a:avLst>
              <a:gd name="adj" fmla="val 8000"/>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3154680"/>
            <a:ext cx="3840480" cy="411480"/>
          </a:xfrm>
          <a:prstGeom prst="rect">
            <a:avLst/>
          </a:prstGeom>
          <a:noFill/>
        </p:spPr>
        <p:txBody>
          <a:bodyPr wrap="square" anchor="t" lIns="45720" rIns="45720">
            <a:spAutoFit/>
          </a:bodyPr>
          <a:lstStyle/>
          <a:p>
            <a:pPr algn="l">
              <a:lnSpc>
                <a:spcPct val="110000"/>
              </a:lnSpc>
            </a:pPr>
            <a:r>
              <a:rPr sz="1500" b="1" i="0">
                <a:solidFill>
                  <a:srgbClr val="A66F00"/>
                </a:solidFill>
                <a:latin typeface="Calibri"/>
              </a:rPr>
              <a:t>Prioridad media (específica)</a:t>
            </a:r>
          </a:p>
        </p:txBody>
      </p:sp>
      <p:sp>
        <p:nvSpPr>
          <p:cNvPr id="12" name="TextBox 11"/>
          <p:cNvSpPr txBox="1"/>
          <p:nvPr/>
        </p:nvSpPr>
        <p:spPr>
          <a:xfrm>
            <a:off x="7635240" y="3566160"/>
            <a:ext cx="3840480" cy="868679"/>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Carrera y promoción: </a:t>
            </a:r>
            <a:r>
              <a:rPr sz="1200">
                <a:solidFill>
                  <a:srgbClr val="212121"/>
                </a:solidFill>
                <a:latin typeface="Calibri"/>
              </a:rPr>
              <a:t>6,6 % de los cons, +1,4 pp vs. peers (promociones lentas, falta de carrera técnica).</a:t>
            </a:r>
          </a:p>
          <a:p>
            <a:pPr>
              <a:lnSpc>
                <a:spcPct val="108000"/>
              </a:lnSpc>
              <a:spcAft>
                <a:spcPts val="400"/>
              </a:spcAft>
            </a:pPr>
            <a:r>
              <a:rPr sz="1200" b="1">
                <a:solidFill>
                  <a:srgbClr val="1B7F3B"/>
                </a:solidFill>
                <a:latin typeface="Calibri"/>
              </a:rPr>
              <a:t>• </a:t>
            </a:r>
            <a:r>
              <a:rPr b="1" sz="1200">
                <a:solidFill>
                  <a:srgbClr val="212121"/>
                </a:solidFill>
                <a:latin typeface="Calibri"/>
              </a:rPr>
              <a:t>Burocracia y flexibilidad: </a:t>
            </a:r>
            <a:r>
              <a:rPr sz="1200">
                <a:solidFill>
                  <a:srgbClr val="212121"/>
                </a:solidFill>
                <a:latin typeface="Calibri"/>
              </a:rPr>
              <a:t>en la media; castigo moderado.</a:t>
            </a:r>
          </a:p>
        </p:txBody>
      </p:sp>
      <p:sp>
        <p:nvSpPr>
          <p:cNvPr id="13" name="Rounded Rectangle 12"/>
          <p:cNvSpPr/>
          <p:nvPr/>
        </p:nvSpPr>
        <p:spPr>
          <a:xfrm>
            <a:off x="7498079" y="4663440"/>
            <a:ext cx="4114800" cy="160020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35240" y="4754879"/>
            <a:ext cx="384048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Estructural del sector: vigilar</a:t>
            </a:r>
          </a:p>
        </p:txBody>
      </p:sp>
      <p:sp>
        <p:nvSpPr>
          <p:cNvPr id="15" name="TextBox 14"/>
          <p:cNvSpPr txBox="1"/>
          <p:nvPr/>
        </p:nvSpPr>
        <p:spPr>
          <a:xfrm>
            <a:off x="7635240" y="5166359"/>
            <a:ext cx="3840480" cy="100584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Conciliación (29 %) y compensación (17 %): </a:t>
            </a:r>
            <a:r>
              <a:rPr sz="1200">
                <a:solidFill>
                  <a:srgbClr val="212121"/>
                </a:solidFill>
                <a:latin typeface="Calibri"/>
              </a:rPr>
              <a:t>las mayores quejas, pero por debajo de los peers y sin castigo en el rating.</a:t>
            </a:r>
          </a:p>
          <a:p>
            <a:pPr>
              <a:lnSpc>
                <a:spcPct val="108000"/>
              </a:lnSpc>
              <a:spcAft>
                <a:spcPts val="400"/>
              </a:spcAft>
            </a:pPr>
            <a:r>
              <a:rPr sz="1200" b="1">
                <a:solidFill>
                  <a:srgbClr val="1B7F3B"/>
                </a:solidFill>
                <a:latin typeface="Calibri"/>
              </a:rPr>
              <a:t>• </a:t>
            </a:r>
            <a:r>
              <a:rPr b="1" sz="1200">
                <a:solidFill>
                  <a:srgbClr val="212121"/>
                </a:solidFill>
                <a:latin typeface="Calibri"/>
              </a:rPr>
              <a:t>Alerta: </a:t>
            </a:r>
            <a:r>
              <a:rPr sz="1200">
                <a:solidFill>
                  <a:srgbClr val="212121"/>
                </a:solidFill>
                <a:latin typeface="Calibri"/>
              </a:rPr>
              <a:t>las quejas por horas suben del 26 % (2018-19) al 32 % (2022-23).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2600" b="1" i="0">
                <a:solidFill>
                  <a:srgbClr val="0F4D24"/>
                </a:solidFill>
                <a:latin typeface="Cambria"/>
              </a:rPr>
              <a:t>Extra · Evolución temporal, recomendación y antigüedad</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Peso de las principales categorías en los cons de Deloitte y de los peers, por periodo</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13</a:t>
            </a:r>
          </a:p>
        </p:txBody>
      </p:sp>
      <p:pic>
        <p:nvPicPr>
          <p:cNvPr id="6" name="Picture 5" descr="16_extra_evolucion_categorias_cons.png"/>
          <p:cNvPicPr>
            <a:picLocks noChangeAspect="1"/>
          </p:cNvPicPr>
          <p:nvPr/>
        </p:nvPicPr>
        <p:blipFill>
          <a:blip r:embed="rId2"/>
          <a:stretch>
            <a:fillRect/>
          </a:stretch>
        </p:blipFill>
        <p:spPr>
          <a:xfrm>
            <a:off x="1572466" y="1371600"/>
            <a:ext cx="9016586" cy="2926080"/>
          </a:xfrm>
          <a:prstGeom prst="rect">
            <a:avLst/>
          </a:prstGeom>
        </p:spPr>
      </p:pic>
      <p:sp>
        <p:nvSpPr>
          <p:cNvPr id="7" name="Rounded Rectangle 6"/>
          <p:cNvSpPr/>
          <p:nvPr/>
        </p:nvSpPr>
        <p:spPr>
          <a:xfrm>
            <a:off x="548640" y="4434840"/>
            <a:ext cx="356616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526279"/>
            <a:ext cx="32918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Evolución</a:t>
            </a:r>
          </a:p>
        </p:txBody>
      </p:sp>
      <p:sp>
        <p:nvSpPr>
          <p:cNvPr id="9" name="TextBox 8"/>
          <p:cNvSpPr txBox="1"/>
          <p:nvPr/>
        </p:nvSpPr>
        <p:spPr>
          <a:xfrm>
            <a:off x="685800" y="4937759"/>
            <a:ext cx="3291840" cy="123444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Suben conciliación (26 → 32 %) y proyectos (10 → 14 %); </a:t>
            </a:r>
            <a:r>
              <a:rPr sz="1200">
                <a:solidFill>
                  <a:srgbClr val="212121"/>
                </a:solidFill>
                <a:latin typeface="Calibri"/>
              </a:rPr>
              <a:t>bajan dirección (11 → 8 %) y carrera (9 → 5 %). Los elogios al salario suben del 10 % al 13 % (subidas de 2022).</a:t>
            </a:r>
          </a:p>
        </p:txBody>
      </p:sp>
      <p:sp>
        <p:nvSpPr>
          <p:cNvPr id="10" name="Rounded Rectangle 9"/>
          <p:cNvSpPr/>
          <p:nvPr/>
        </p:nvSpPr>
        <p:spPr>
          <a:xfrm>
            <a:off x="4297680" y="4434840"/>
            <a:ext cx="356616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4526279"/>
            <a:ext cx="32918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Por recomendación</a:t>
            </a:r>
          </a:p>
        </p:txBody>
      </p:sp>
      <p:sp>
        <p:nvSpPr>
          <p:cNvPr id="12" name="TextBox 11"/>
          <p:cNvSpPr txBox="1"/>
          <p:nvPr/>
        </p:nvSpPr>
        <p:spPr>
          <a:xfrm>
            <a:off x="4434840" y="4937759"/>
            <a:ext cx="3291840" cy="123444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Quien no recomienda se queja de dirección (20 % vs. 8 %), cultura y salario; </a:t>
            </a:r>
            <a:r>
              <a:rPr sz="1200">
                <a:solidFill>
                  <a:srgbClr val="212121"/>
                </a:solidFill>
                <a:latin typeface="Calibri"/>
              </a:rPr>
              <a:t>quien se queja de horas sigue recomendando.</a:t>
            </a:r>
          </a:p>
        </p:txBody>
      </p:sp>
      <p:sp>
        <p:nvSpPr>
          <p:cNvPr id="13" name="Rounded Rectangle 12"/>
          <p:cNvSpPr/>
          <p:nvPr/>
        </p:nvSpPr>
        <p:spPr>
          <a:xfrm>
            <a:off x="8046720" y="4434840"/>
            <a:ext cx="356616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4526279"/>
            <a:ext cx="32918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Por antigüedad</a:t>
            </a:r>
          </a:p>
        </p:txBody>
      </p:sp>
      <p:sp>
        <p:nvSpPr>
          <p:cNvPr id="15" name="TextBox 14"/>
          <p:cNvSpPr txBox="1"/>
          <p:nvPr/>
        </p:nvSpPr>
        <p:spPr>
          <a:xfrm>
            <a:off x="8183880" y="4937759"/>
            <a:ext cx="3291840" cy="123444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La conciliación crece con la antigüedad (25 % → 35 %); </a:t>
            </a:r>
            <a:r>
              <a:rPr sz="1200">
                <a:solidFill>
                  <a:srgbClr val="212121"/>
                </a:solidFill>
                <a:latin typeface="Calibri"/>
              </a:rPr>
              <a:t>el salario pesa más entre 1 y 5 años (primera promoción); dirección y proyectos son estables en todos los tramos.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4D24"/>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FFFFFF"/>
                </a:solidFill>
                <a:latin typeface="Cambria"/>
              </a:rPr>
              <a:t>Conclusiones</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CFE8D6"/>
                </a:solidFill>
                <a:latin typeface="Calibri"/>
              </a:rPr>
              <a:t>Fortalezas para la marca empleadora y áreas de mejora para la retención</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9FC4AB"/>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9FC4AB"/>
                </a:solidFill>
                <a:latin typeface="Calibri"/>
              </a:rPr>
              <a:t>14</a:t>
            </a:r>
          </a:p>
        </p:txBody>
      </p:sp>
      <p:sp>
        <p:nvSpPr>
          <p:cNvPr id="6" name="Rounded Rectangle 5"/>
          <p:cNvSpPr/>
          <p:nvPr/>
        </p:nvSpPr>
        <p:spPr>
          <a:xfrm>
            <a:off x="548640" y="1463040"/>
            <a:ext cx="5394960" cy="4754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51206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Fortalezas</a:t>
            </a:r>
          </a:p>
        </p:txBody>
      </p:sp>
      <p:sp>
        <p:nvSpPr>
          <p:cNvPr id="8" name="TextBox 7"/>
          <p:cNvSpPr txBox="1"/>
          <p:nvPr/>
        </p:nvSpPr>
        <p:spPr>
          <a:xfrm>
            <a:off x="685800" y="1965960"/>
            <a:ext cx="5120640" cy="4160520"/>
          </a:xfrm>
          <a:prstGeom prst="rect">
            <a:avLst/>
          </a:prstGeom>
          <a:noFill/>
        </p:spPr>
        <p:txBody>
          <a:bodyPr wrap="square" lIns="45720" rIns="45720">
            <a:spAutoFit/>
          </a:bodyPr>
          <a:lstStyle/>
          <a:p>
            <a:pPr>
              <a:lnSpc>
                <a:spcPct val="108000"/>
              </a:lnSpc>
              <a:spcAft>
                <a:spcPts val="400"/>
              </a:spcAft>
            </a:pPr>
            <a:r>
              <a:rPr sz="1400" b="1">
                <a:solidFill>
                  <a:srgbClr val="1B7F3B"/>
                </a:solidFill>
                <a:latin typeface="Calibri"/>
              </a:rPr>
              <a:t>• </a:t>
            </a:r>
            <a:r>
              <a:rPr b="1" sz="1400">
                <a:solidFill>
                  <a:srgbClr val="212121"/>
                </a:solidFill>
                <a:latin typeface="Calibri"/>
              </a:rPr>
              <a:t>La Big Four mejor valorada y en ascenso: </a:t>
            </a:r>
            <a:r>
              <a:rPr sz="1400">
                <a:solidFill>
                  <a:srgbClr val="212121"/>
                </a:solidFill>
                <a:latin typeface="Calibri"/>
              </a:rPr>
              <a:t>rating 3,90 (4,00 en 2022), mayor recomendación entre quienes opinan (≈79 %), menos reseñas de 1-2 estrellas.</a:t>
            </a:r>
          </a:p>
          <a:p>
            <a:pPr>
              <a:lnSpc>
                <a:spcPct val="108000"/>
              </a:lnSpc>
              <a:spcAft>
                <a:spcPts val="400"/>
              </a:spcAft>
            </a:pPr>
            <a:r>
              <a:rPr sz="1400" b="1">
                <a:solidFill>
                  <a:srgbClr val="1B7F3B"/>
                </a:solidFill>
                <a:latin typeface="Calibri"/>
              </a:rPr>
              <a:t>• </a:t>
            </a:r>
            <a:r>
              <a:rPr b="1" sz="1400">
                <a:solidFill>
                  <a:srgbClr val="212121"/>
                </a:solidFill>
                <a:latin typeface="Calibri"/>
              </a:rPr>
              <a:t>La mejor relación esfuerzo-recompensa del grupo: </a:t>
            </a:r>
            <a:r>
              <a:rPr sz="1400">
                <a:solidFill>
                  <a:srgbClr val="212121"/>
                </a:solidFill>
                <a:latin typeface="Calibri"/>
              </a:rPr>
              <a:t>5 pp menos de quejas por horas y 2 pp menos por salario, con más elogios en ambos temas.</a:t>
            </a:r>
          </a:p>
          <a:p>
            <a:pPr>
              <a:lnSpc>
                <a:spcPct val="108000"/>
              </a:lnSpc>
              <a:spcAft>
                <a:spcPts val="400"/>
              </a:spcAft>
            </a:pPr>
            <a:r>
              <a:rPr sz="1400" b="1">
                <a:solidFill>
                  <a:srgbClr val="1B7F3B"/>
                </a:solidFill>
                <a:latin typeface="Calibri"/>
              </a:rPr>
              <a:t>• </a:t>
            </a:r>
            <a:r>
              <a:rPr b="1" sz="1400">
                <a:solidFill>
                  <a:srgbClr val="212121"/>
                </a:solidFill>
                <a:latin typeface="Calibri"/>
              </a:rPr>
              <a:t>Los activos del sector al nivel del mejor: </a:t>
            </a:r>
            <a:r>
              <a:rPr sz="1400">
                <a:solidFill>
                  <a:srgbClr val="212121"/>
                </a:solidFill>
                <a:latin typeface="Calibri"/>
              </a:rPr>
              <a:t>aprendizaje y carrera (33 % de los pros), cultura y compañeros (28 %); el 9 % no encuentra nada que criticar.</a:t>
            </a:r>
          </a:p>
        </p:txBody>
      </p:sp>
      <p:sp>
        <p:nvSpPr>
          <p:cNvPr id="9" name="Rounded Rectangle 8"/>
          <p:cNvSpPr/>
          <p:nvPr/>
        </p:nvSpPr>
        <p:spPr>
          <a:xfrm>
            <a:off x="6217920" y="1463040"/>
            <a:ext cx="5394960" cy="4754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54480"/>
            <a:ext cx="5120640" cy="411480"/>
          </a:xfrm>
          <a:prstGeom prst="rect">
            <a:avLst/>
          </a:prstGeom>
          <a:noFill/>
        </p:spPr>
        <p:txBody>
          <a:bodyPr wrap="square" anchor="t" lIns="45720" rIns="45720">
            <a:spAutoFit/>
          </a:bodyPr>
          <a:lstStyle/>
          <a:p>
            <a:pPr algn="l">
              <a:lnSpc>
                <a:spcPct val="110000"/>
              </a:lnSpc>
            </a:pPr>
            <a:r>
              <a:rPr sz="1500" b="1" i="0">
                <a:solidFill>
                  <a:srgbClr val="B22222"/>
                </a:solidFill>
                <a:latin typeface="Calibri"/>
              </a:rPr>
              <a:t>Áreas de mejora</a:t>
            </a:r>
          </a:p>
        </p:txBody>
      </p:sp>
      <p:sp>
        <p:nvSpPr>
          <p:cNvPr id="11" name="TextBox 10"/>
          <p:cNvSpPr txBox="1"/>
          <p:nvPr/>
        </p:nvSpPr>
        <p:spPr>
          <a:xfrm>
            <a:off x="6355080" y="1965960"/>
            <a:ext cx="5120640" cy="4160520"/>
          </a:xfrm>
          <a:prstGeom prst="rect">
            <a:avLst/>
          </a:prstGeom>
          <a:noFill/>
        </p:spPr>
        <p:txBody>
          <a:bodyPr wrap="square" lIns="45720" rIns="45720">
            <a:spAutoFit/>
          </a:bodyPr>
          <a:lstStyle/>
          <a:p>
            <a:pPr>
              <a:lnSpc>
                <a:spcPct val="108000"/>
              </a:lnSpc>
              <a:spcAft>
                <a:spcPts val="400"/>
              </a:spcAft>
            </a:pPr>
            <a:r>
              <a:rPr sz="1400" b="1">
                <a:solidFill>
                  <a:srgbClr val="1B7F3B"/>
                </a:solidFill>
                <a:latin typeface="Calibri"/>
              </a:rPr>
              <a:t>• </a:t>
            </a:r>
            <a:r>
              <a:rPr b="1" sz="1400">
                <a:solidFill>
                  <a:srgbClr val="212121"/>
                </a:solidFill>
                <a:latin typeface="Calibri"/>
              </a:rPr>
              <a:t>Calidad directiva (prioridad 1): </a:t>
            </a:r>
            <a:r>
              <a:rPr sz="1400">
                <a:solidFill>
                  <a:srgbClr val="212121"/>
                </a:solidFill>
                <a:latin typeface="Calibri"/>
              </a:rPr>
              <a:t>la queja que más daña el rating (3,46; 24 % no recomienda), pasa del 8 % al 14 % de los cons entre quienes se van y al 20 % entre quienes no recomiendan.</a:t>
            </a:r>
          </a:p>
          <a:p>
            <a:pPr>
              <a:lnSpc>
                <a:spcPct val="108000"/>
              </a:lnSpc>
              <a:spcAft>
                <a:spcPts val="400"/>
              </a:spcAft>
            </a:pPr>
            <a:r>
              <a:rPr sz="1400" b="1">
                <a:solidFill>
                  <a:srgbClr val="1B7F3B"/>
                </a:solidFill>
                <a:latin typeface="Calibri"/>
              </a:rPr>
              <a:t>• </a:t>
            </a:r>
            <a:r>
              <a:rPr b="1" sz="1400">
                <a:solidFill>
                  <a:srgbClr val="212121"/>
                </a:solidFill>
                <a:latin typeface="Calibri"/>
              </a:rPr>
              <a:t>Asignación y calidad de proyectos (prioridad 2): </a:t>
            </a:r>
            <a:r>
              <a:rPr sz="1400">
                <a:solidFill>
                  <a:srgbClr val="212121"/>
                </a:solidFill>
                <a:latin typeface="Calibri"/>
              </a:rPr>
              <a:t>única categoría claramente peor que el mercado (11 % vs. 7 %) y en aumento (14 % en 2022-23).</a:t>
            </a:r>
          </a:p>
          <a:p>
            <a:pPr>
              <a:lnSpc>
                <a:spcPct val="108000"/>
              </a:lnSpc>
              <a:spcAft>
                <a:spcPts val="400"/>
              </a:spcAft>
            </a:pPr>
            <a:r>
              <a:rPr sz="1400" b="1">
                <a:solidFill>
                  <a:srgbClr val="1B7F3B"/>
                </a:solidFill>
                <a:latin typeface="Calibri"/>
              </a:rPr>
              <a:t>• </a:t>
            </a:r>
            <a:r>
              <a:rPr b="1" sz="1400">
                <a:solidFill>
                  <a:srgbClr val="212121"/>
                </a:solidFill>
                <a:latin typeface="Calibri"/>
              </a:rPr>
              <a:t>Horas y salario: </a:t>
            </a:r>
            <a:r>
              <a:rPr sz="1400">
                <a:solidFill>
                  <a:srgbClr val="212121"/>
                </a:solidFill>
                <a:latin typeface="Calibri"/>
              </a:rPr>
              <a:t>estructurales del sector y mejor que los peers; vigilar la subida de las quejas por horas.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Propuesta de acciones para RRHH</a:t>
            </a:r>
          </a:p>
        </p:txBody>
      </p:sp>
      <p:sp>
        <p:nvSpPr>
          <p:cNvPr id="3" name="TextBox 2"/>
          <p:cNvSpPr txBox="1"/>
          <p:nvPr/>
        </p:nvSpPr>
        <p:spPr>
          <a:xfrm>
            <a:off x="548640" y="960120"/>
            <a:ext cx="11094415" cy="457200"/>
          </a:xfrm>
          <a:prstGeom prst="rect">
            <a:avLst/>
          </a:prstGeom>
          <a:noFill/>
        </p:spPr>
        <p:txBody>
          <a:bodyPr wrap="square" anchor="t" lIns="45720" rIns="45720">
            <a:spAutoFit/>
          </a:bodyPr>
          <a:lstStyle/>
          <a:p>
            <a:pPr algn="l">
              <a:lnSpc>
                <a:spcPct val="110000"/>
              </a:lnSpc>
            </a:pPr>
            <a:r>
              <a:rPr sz="1400" b="0" i="1">
                <a:solidFill>
                  <a:srgbClr val="5A5A5A"/>
                </a:solidFill>
                <a:latin typeface="Calibri"/>
              </a:rPr>
              <a:t>Tres recomendaciones concretas, medibles con el mismo pipeline en los próximos trimestres</a:t>
            </a:r>
          </a:p>
        </p:txBody>
      </p:sp>
      <p:sp>
        <p:nvSpPr>
          <p:cNvPr id="4" name="TextBox 3"/>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5" name="TextBox 4"/>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15</a:t>
            </a:r>
          </a:p>
        </p:txBody>
      </p:sp>
      <p:sp>
        <p:nvSpPr>
          <p:cNvPr id="6" name="Rounded Rectangle 5"/>
          <p:cNvSpPr/>
          <p:nvPr/>
        </p:nvSpPr>
        <p:spPr>
          <a:xfrm>
            <a:off x="548640" y="1463040"/>
            <a:ext cx="3566160" cy="480060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600200"/>
            <a:ext cx="384048" cy="384048"/>
          </a:xfrm>
          <a:prstGeom prst="ellipse">
            <a:avLst/>
          </a:prstGeom>
          <a:solidFill>
            <a:srgbClr val="0F4D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43000" y="1572768"/>
            <a:ext cx="2834639" cy="457200"/>
          </a:xfrm>
          <a:prstGeom prst="rect">
            <a:avLst/>
          </a:prstGeom>
          <a:noFill/>
        </p:spPr>
        <p:txBody>
          <a:bodyPr wrap="square" anchor="ctr" lIns="45720" rIns="45720">
            <a:spAutoFit/>
          </a:bodyPr>
          <a:lstStyle/>
          <a:p>
            <a:pPr algn="l">
              <a:lnSpc>
                <a:spcPct val="110000"/>
              </a:lnSpc>
            </a:pPr>
            <a:r>
              <a:rPr sz="1400" b="1" i="0">
                <a:solidFill>
                  <a:srgbClr val="0F4D24"/>
                </a:solidFill>
                <a:latin typeface="Calibri"/>
              </a:rPr>
              <a:t>Programa de calidad directiva</a:t>
            </a:r>
          </a:p>
        </p:txBody>
      </p:sp>
      <p:sp>
        <p:nvSpPr>
          <p:cNvPr id="9" name="TextBox 8"/>
          <p:cNvSpPr txBox="1"/>
          <p:nvPr/>
        </p:nvSpPr>
        <p:spPr>
          <a:xfrm>
            <a:off x="685800" y="2103120"/>
            <a:ext cx="3291840" cy="406908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Objetivo: </a:t>
            </a:r>
            <a:r>
              <a:rPr sz="1200">
                <a:solidFill>
                  <a:srgbClr val="212121"/>
                </a:solidFill>
                <a:latin typeface="Calibri"/>
              </a:rPr>
              <a:t>bajar las quejas sobre dirección entre quienes se van del 14 % al ≈11 % (peers) en 18 meses.</a:t>
            </a:r>
          </a:p>
          <a:p>
            <a:pPr>
              <a:lnSpc>
                <a:spcPct val="108000"/>
              </a:lnSpc>
              <a:spcAft>
                <a:spcPts val="400"/>
              </a:spcAft>
            </a:pPr>
            <a:r>
              <a:rPr sz="1200" b="1">
                <a:solidFill>
                  <a:srgbClr val="1B7F3B"/>
                </a:solidFill>
                <a:latin typeface="Calibri"/>
              </a:rPr>
              <a:t>• </a:t>
            </a:r>
            <a:r>
              <a:rPr b="1" sz="1200">
                <a:solidFill>
                  <a:srgbClr val="212121"/>
                </a:solidFill>
                <a:latin typeface="Calibri"/>
              </a:rPr>
              <a:t>Acciones: </a:t>
            </a:r>
            <a:r>
              <a:rPr sz="1200">
                <a:solidFill>
                  <a:srgbClr val="212121"/>
                </a:solidFill>
                <a:latin typeface="Calibri"/>
              </a:rPr>
              <a:t>evaluación ascendente con peso real en la promoción a senior manager y partner; formación obligatoria en gestión de personas y de la carga del equipo; seguimiento trimestral de los equipos con peor feedback.</a:t>
            </a:r>
          </a:p>
          <a:p>
            <a:pPr>
              <a:lnSpc>
                <a:spcPct val="108000"/>
              </a:lnSpc>
              <a:spcAft>
                <a:spcPts val="400"/>
              </a:spcAft>
            </a:pPr>
            <a:r>
              <a:rPr sz="1200" b="1">
                <a:solidFill>
                  <a:srgbClr val="1B7F3B"/>
                </a:solidFill>
                <a:latin typeface="Calibri"/>
              </a:rPr>
              <a:t>• </a:t>
            </a:r>
            <a:r>
              <a:rPr b="1" sz="1200">
                <a:solidFill>
                  <a:srgbClr val="212121"/>
                </a:solidFill>
                <a:latin typeface="Calibri"/>
              </a:rPr>
              <a:t>Por qué: </a:t>
            </a:r>
            <a:r>
              <a:rPr sz="1200">
                <a:solidFill>
                  <a:srgbClr val="212121"/>
                </a:solidFill>
                <a:latin typeface="Calibri"/>
              </a:rPr>
              <a:t>es la queja que más daña el rating y el principal motivo de salida que distingue a Deloitte.</a:t>
            </a:r>
          </a:p>
        </p:txBody>
      </p:sp>
      <p:sp>
        <p:nvSpPr>
          <p:cNvPr id="10" name="Rounded Rectangle 9"/>
          <p:cNvSpPr/>
          <p:nvPr/>
        </p:nvSpPr>
        <p:spPr>
          <a:xfrm>
            <a:off x="4297679" y="1463040"/>
            <a:ext cx="3566160" cy="4800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34840" y="1600200"/>
            <a:ext cx="384048" cy="384048"/>
          </a:xfrm>
          <a:prstGeom prst="ellipse">
            <a:avLst/>
          </a:prstGeom>
          <a:solidFill>
            <a:srgbClr val="0F4D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2" name="TextBox 11"/>
          <p:cNvSpPr txBox="1"/>
          <p:nvPr/>
        </p:nvSpPr>
        <p:spPr>
          <a:xfrm>
            <a:off x="4892040" y="1572768"/>
            <a:ext cx="2834639" cy="457200"/>
          </a:xfrm>
          <a:prstGeom prst="rect">
            <a:avLst/>
          </a:prstGeom>
          <a:noFill/>
        </p:spPr>
        <p:txBody>
          <a:bodyPr wrap="square" anchor="ctr" lIns="45720" rIns="45720">
            <a:spAutoFit/>
          </a:bodyPr>
          <a:lstStyle/>
          <a:p>
            <a:pPr algn="l">
              <a:lnSpc>
                <a:spcPct val="110000"/>
              </a:lnSpc>
            </a:pPr>
            <a:r>
              <a:rPr sz="1400" b="1" i="0">
                <a:solidFill>
                  <a:srgbClr val="0F4D24"/>
                </a:solidFill>
                <a:latin typeface="Calibri"/>
              </a:rPr>
              <a:t>Staffing transparente y con rotación</a:t>
            </a:r>
          </a:p>
        </p:txBody>
      </p:sp>
      <p:sp>
        <p:nvSpPr>
          <p:cNvPr id="13" name="TextBox 12"/>
          <p:cNvSpPr txBox="1"/>
          <p:nvPr/>
        </p:nvSpPr>
        <p:spPr>
          <a:xfrm>
            <a:off x="4434840" y="2103120"/>
            <a:ext cx="3291840" cy="406908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Objetivo: </a:t>
            </a:r>
            <a:r>
              <a:rPr sz="1200">
                <a:solidFill>
                  <a:srgbClr val="212121"/>
                </a:solidFill>
                <a:latin typeface="Calibri"/>
              </a:rPr>
              <a:t>bajar las quejas sobre proyectos del 11 % al 7 % (media de peers).</a:t>
            </a:r>
          </a:p>
          <a:p>
            <a:pPr>
              <a:lnSpc>
                <a:spcPct val="108000"/>
              </a:lnSpc>
              <a:spcAft>
                <a:spcPts val="400"/>
              </a:spcAft>
            </a:pPr>
            <a:r>
              <a:rPr sz="1200" b="1">
                <a:solidFill>
                  <a:srgbClr val="1B7F3B"/>
                </a:solidFill>
                <a:latin typeface="Calibri"/>
              </a:rPr>
              <a:t>• </a:t>
            </a:r>
            <a:r>
              <a:rPr b="1" sz="1200">
                <a:solidFill>
                  <a:srgbClr val="212121"/>
                </a:solidFill>
                <a:latin typeface="Calibri"/>
              </a:rPr>
              <a:t>Acciones: </a:t>
            </a:r>
            <a:r>
              <a:rPr sz="1200">
                <a:solidFill>
                  <a:srgbClr val="212121"/>
                </a:solidFill>
                <a:latin typeface="Calibri"/>
              </a:rPr>
              <a:t>"mercado interno" de proyectos visible con criterios públicos; revisión obligatoria a los 12 meses en el mismo proyecto; modernización de proyectos antiguos; exposición periódica al cliente para los centros de entrega.</a:t>
            </a:r>
          </a:p>
          <a:p>
            <a:pPr>
              <a:lnSpc>
                <a:spcPct val="108000"/>
              </a:lnSpc>
              <a:spcAft>
                <a:spcPts val="400"/>
              </a:spcAft>
            </a:pPr>
            <a:r>
              <a:rPr sz="1200" b="1">
                <a:solidFill>
                  <a:srgbClr val="1B7F3B"/>
                </a:solidFill>
                <a:latin typeface="Calibri"/>
              </a:rPr>
              <a:t>• </a:t>
            </a:r>
            <a:r>
              <a:rPr b="1" sz="1200">
                <a:solidFill>
                  <a:srgbClr val="212121"/>
                </a:solidFill>
                <a:latin typeface="Calibri"/>
              </a:rPr>
              <a:t>Por qué: </a:t>
            </a:r>
            <a:r>
              <a:rPr sz="1200">
                <a:solidFill>
                  <a:srgbClr val="212121"/>
                </a:solidFill>
                <a:latin typeface="Calibri"/>
              </a:rPr>
              <a:t>única área claramente peor que el mercado y con tendencia a empeorar.</a:t>
            </a:r>
          </a:p>
        </p:txBody>
      </p:sp>
      <p:sp>
        <p:nvSpPr>
          <p:cNvPr id="14" name="Rounded Rectangle 13"/>
          <p:cNvSpPr/>
          <p:nvPr/>
        </p:nvSpPr>
        <p:spPr>
          <a:xfrm>
            <a:off x="8046719" y="1463040"/>
            <a:ext cx="3566160" cy="480060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83879" y="1600200"/>
            <a:ext cx="384048" cy="384048"/>
          </a:xfrm>
          <a:prstGeom prst="ellipse">
            <a:avLst/>
          </a:prstGeom>
          <a:solidFill>
            <a:srgbClr val="0F4D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6" name="TextBox 15"/>
          <p:cNvSpPr txBox="1"/>
          <p:nvPr/>
        </p:nvSpPr>
        <p:spPr>
          <a:xfrm>
            <a:off x="8641080" y="1572768"/>
            <a:ext cx="2834639" cy="457200"/>
          </a:xfrm>
          <a:prstGeom prst="rect">
            <a:avLst/>
          </a:prstGeom>
          <a:noFill/>
        </p:spPr>
        <p:txBody>
          <a:bodyPr wrap="square" anchor="ctr" lIns="45720" rIns="45720">
            <a:spAutoFit/>
          </a:bodyPr>
          <a:lstStyle/>
          <a:p>
            <a:pPr algn="l">
              <a:lnSpc>
                <a:spcPct val="110000"/>
              </a:lnSpc>
            </a:pPr>
            <a:r>
              <a:rPr sz="1400" b="1" i="0">
                <a:solidFill>
                  <a:srgbClr val="0F4D24"/>
                </a:solidFill>
                <a:latin typeface="Calibri"/>
              </a:rPr>
              <a:t>Vender y proteger la ventaja esfuerzo-recompensa</a:t>
            </a:r>
          </a:p>
        </p:txBody>
      </p:sp>
      <p:sp>
        <p:nvSpPr>
          <p:cNvPr id="17" name="TextBox 16"/>
          <p:cNvSpPr txBox="1"/>
          <p:nvPr/>
        </p:nvSpPr>
        <p:spPr>
          <a:xfrm>
            <a:off x="8183879" y="2103120"/>
            <a:ext cx="3291840" cy="4069080"/>
          </a:xfrm>
          <a:prstGeom prst="rect">
            <a:avLst/>
          </a:prstGeom>
          <a:noFill/>
        </p:spPr>
        <p:txBody>
          <a:bodyPr wrap="square" lIns="45720" rIns="45720">
            <a:spAutoFit/>
          </a:bodyPr>
          <a:lstStyle/>
          <a:p>
            <a:pPr>
              <a:lnSpc>
                <a:spcPct val="108000"/>
              </a:lnSpc>
              <a:spcAft>
                <a:spcPts val="400"/>
              </a:spcAft>
            </a:pPr>
            <a:r>
              <a:rPr sz="1200" b="1">
                <a:solidFill>
                  <a:srgbClr val="1B7F3B"/>
                </a:solidFill>
                <a:latin typeface="Calibri"/>
              </a:rPr>
              <a:t>• </a:t>
            </a:r>
            <a:r>
              <a:rPr b="1" sz="1200">
                <a:solidFill>
                  <a:srgbClr val="212121"/>
                </a:solidFill>
                <a:latin typeface="Calibri"/>
              </a:rPr>
              <a:t>Acciones: </a:t>
            </a:r>
            <a:r>
              <a:rPr sz="1200">
                <a:solidFill>
                  <a:srgbClr val="212121"/>
                </a:solidFill>
                <a:latin typeface="Calibri"/>
              </a:rPr>
              <a:t>en campus y ofertas, "la Big Four mejor valorada" con hechos verificables (rating 4,0 en 2022, menos quejas por horas y salario que cualquier competidor); reglas de temporada alta (límite de horas, compensación en tiempo libre) y seguimiento trimestral de las quejas por horas (+6 pp desde 2018).</a:t>
            </a:r>
          </a:p>
          <a:p>
            <a:pPr>
              <a:lnSpc>
                <a:spcPct val="108000"/>
              </a:lnSpc>
              <a:spcAft>
                <a:spcPts val="400"/>
              </a:spcAft>
            </a:pPr>
            <a:r>
              <a:rPr sz="1200" b="1">
                <a:solidFill>
                  <a:srgbClr val="1B7F3B"/>
                </a:solidFill>
                <a:latin typeface="Calibri"/>
              </a:rPr>
              <a:t>• </a:t>
            </a:r>
            <a:r>
              <a:rPr b="1" sz="1200">
                <a:solidFill>
                  <a:srgbClr val="212121"/>
                </a:solidFill>
                <a:latin typeface="Calibri"/>
              </a:rPr>
              <a:t>Por qué: </a:t>
            </a:r>
            <a:r>
              <a:rPr sz="1200">
                <a:solidFill>
                  <a:srgbClr val="212121"/>
                </a:solidFill>
                <a:latin typeface="Calibri"/>
              </a:rPr>
              <a:t>es la fortaleza diferencial, y la que más fácil se pierde si las horas siguen creciendo.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Limitaciones y próximos pasos</a:t>
            </a:r>
          </a:p>
        </p:txBody>
      </p:sp>
      <p:sp>
        <p:nvSpPr>
          <p:cNvPr id="3" name="TextBox 2"/>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4" name="TextBox 3"/>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16</a:t>
            </a:r>
          </a:p>
        </p:txBody>
      </p:sp>
      <p:sp>
        <p:nvSpPr>
          <p:cNvPr id="5" name="Rounded Rectangle 4"/>
          <p:cNvSpPr/>
          <p:nvPr/>
        </p:nvSpPr>
        <p:spPr>
          <a:xfrm>
            <a:off x="548640" y="1371600"/>
            <a:ext cx="5394960" cy="4892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51206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Limitaciones</a:t>
            </a:r>
          </a:p>
        </p:txBody>
      </p:sp>
      <p:sp>
        <p:nvSpPr>
          <p:cNvPr id="7" name="TextBox 6"/>
          <p:cNvSpPr txBox="1"/>
          <p:nvPr/>
        </p:nvSpPr>
        <p:spPr>
          <a:xfrm>
            <a:off x="685800" y="1874519"/>
            <a:ext cx="5120640" cy="4297680"/>
          </a:xfrm>
          <a:prstGeom prst="rect">
            <a:avLst/>
          </a:prstGeom>
          <a:noFill/>
        </p:spPr>
        <p:txBody>
          <a:bodyPr wrap="square" lIns="45720" rIns="45720">
            <a:spAutoFit/>
          </a:bodyPr>
          <a:lstStyle/>
          <a:p>
            <a:pPr>
              <a:lnSpc>
                <a:spcPct val="108000"/>
              </a:lnSpc>
              <a:spcAft>
                <a:spcPts val="400"/>
              </a:spcAft>
            </a:pPr>
            <a:r>
              <a:rPr sz="1300" b="1">
                <a:solidFill>
                  <a:srgbClr val="1B7F3B"/>
                </a:solidFill>
                <a:latin typeface="Calibri"/>
              </a:rPr>
              <a:t>• </a:t>
            </a:r>
            <a:r>
              <a:rPr b="1" sz="1300">
                <a:solidFill>
                  <a:srgbClr val="212121"/>
                </a:solidFill>
                <a:latin typeface="Calibri"/>
              </a:rPr>
              <a:t>Representatividad de Glassdoor: </a:t>
            </a:r>
            <a:r>
              <a:rPr sz="1300">
                <a:solidFill>
                  <a:srgbClr val="212121"/>
                </a:solidFill>
                <a:latin typeface="Calibri"/>
              </a:rPr>
              <a:t>reseñas voluntarias y autoseleccionadas; los antiguos empleados puntúan menos en todas las firmas. Los niveles absolutos se leen con cautela; la comparación relativa es más fiable.</a:t>
            </a:r>
          </a:p>
          <a:p>
            <a:pPr>
              <a:lnSpc>
                <a:spcPct val="108000"/>
              </a:lnSpc>
              <a:spcAft>
                <a:spcPts val="400"/>
              </a:spcAft>
            </a:pPr>
            <a:r>
              <a:rPr sz="1300" b="1">
                <a:solidFill>
                  <a:srgbClr val="1B7F3B"/>
                </a:solidFill>
                <a:latin typeface="Calibri"/>
              </a:rPr>
              <a:t>• </a:t>
            </a:r>
            <a:r>
              <a:rPr b="1" sz="1300">
                <a:solidFill>
                  <a:srgbClr val="212121"/>
                </a:solidFill>
                <a:latin typeface="Calibri"/>
              </a:rPr>
              <a:t>Mezcla de países y áreas: </a:t>
            </a:r>
            <a:r>
              <a:rPr sz="1300">
                <a:solidFill>
                  <a:srgbClr val="212121"/>
                </a:solidFill>
                <a:latin typeface="Calibri"/>
              </a:rPr>
              <a:t>el dataset agrega Reino Unido, EE. UU., India y todas las líneas de servicio; un problema local se diluye.</a:t>
            </a:r>
          </a:p>
          <a:p>
            <a:pPr>
              <a:lnSpc>
                <a:spcPct val="108000"/>
              </a:lnSpc>
              <a:spcAft>
                <a:spcPts val="400"/>
              </a:spcAft>
            </a:pPr>
            <a:r>
              <a:rPr sz="1300" b="1">
                <a:solidFill>
                  <a:srgbClr val="1B7F3B"/>
                </a:solidFill>
                <a:latin typeface="Calibri"/>
              </a:rPr>
              <a:t>• </a:t>
            </a:r>
            <a:r>
              <a:rPr b="1" sz="1300">
                <a:solidFill>
                  <a:srgbClr val="212121"/>
                </a:solidFill>
                <a:latin typeface="Calibri"/>
              </a:rPr>
              <a:t>Precisión de los topics: </a:t>
            </a:r>
            <a:r>
              <a:rPr sz="1300">
                <a:solidFill>
                  <a:srgbClr val="212121"/>
                </a:solidFill>
                <a:latin typeface="Calibri"/>
              </a:rPr>
              <a:t>una reseña → un solo topic aunque hable de varios temas; topics mixtos; la agrupación es un juicio manual. Diferencias de 1-2 pp no son significativas.</a:t>
            </a:r>
          </a:p>
          <a:p>
            <a:pPr>
              <a:lnSpc>
                <a:spcPct val="108000"/>
              </a:lnSpc>
              <a:spcAft>
                <a:spcPts val="400"/>
              </a:spcAft>
            </a:pPr>
            <a:r>
              <a:rPr sz="1300" b="1">
                <a:solidFill>
                  <a:srgbClr val="1B7F3B"/>
                </a:solidFill>
                <a:latin typeface="Calibri"/>
              </a:rPr>
              <a:t>• </a:t>
            </a:r>
            <a:r>
              <a:rPr b="1" sz="1300">
                <a:solidFill>
                  <a:srgbClr val="212121"/>
                </a:solidFill>
                <a:latin typeface="Calibri"/>
              </a:rPr>
              <a:t>Modelo de sentimiento </a:t>
            </a:r>
            <a:r>
              <a:rPr sz="1300">
                <a:solidFill>
                  <a:srgbClr val="212121"/>
                </a:solidFill>
                <a:latin typeface="Calibri"/>
              </a:rPr>
              <a:t>entrenado en críticas de cine: se usa solo como control de calidad.</a:t>
            </a:r>
          </a:p>
          <a:p>
            <a:pPr>
              <a:lnSpc>
                <a:spcPct val="108000"/>
              </a:lnSpc>
              <a:spcAft>
                <a:spcPts val="400"/>
              </a:spcAft>
            </a:pPr>
            <a:r>
              <a:rPr sz="1300" b="1">
                <a:solidFill>
                  <a:srgbClr val="1B7F3B"/>
                </a:solidFill>
                <a:latin typeface="Calibri"/>
              </a:rPr>
              <a:t>• </a:t>
            </a:r>
            <a:r>
              <a:rPr b="1" sz="1300">
                <a:solidFill>
                  <a:srgbClr val="212121"/>
                </a:solidFill>
                <a:latin typeface="Calibri"/>
              </a:rPr>
              <a:t>Muestra y ventana: </a:t>
            </a:r>
            <a:r>
              <a:rPr sz="1300">
                <a:solidFill>
                  <a:srgbClr val="212121"/>
                </a:solidFill>
                <a:latin typeface="Calibri"/>
              </a:rPr>
              <a:t>2.000 reseñas por firma; la ventana mezcla pre-COVID, pandemia y vuelta a la oficina; el "sin opinión" creciente afecta al % que recomienda.</a:t>
            </a:r>
          </a:p>
        </p:txBody>
      </p:sp>
      <p:sp>
        <p:nvSpPr>
          <p:cNvPr id="8" name="Rounded Rectangle 7"/>
          <p:cNvSpPr/>
          <p:nvPr/>
        </p:nvSpPr>
        <p:spPr>
          <a:xfrm>
            <a:off x="6217920" y="1371600"/>
            <a:ext cx="5394960" cy="4892040"/>
          </a:xfrm>
          <a:prstGeom prst="roundRect">
            <a:avLst>
              <a:gd name="adj" fmla="val 8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63040"/>
            <a:ext cx="5120640" cy="411480"/>
          </a:xfrm>
          <a:prstGeom prst="rect">
            <a:avLst/>
          </a:prstGeom>
          <a:noFill/>
        </p:spPr>
        <p:txBody>
          <a:bodyPr wrap="square" anchor="t" lIns="45720" rIns="45720">
            <a:spAutoFit/>
          </a:bodyPr>
          <a:lstStyle/>
          <a:p>
            <a:pPr algn="l">
              <a:lnSpc>
                <a:spcPct val="110000"/>
              </a:lnSpc>
            </a:pPr>
            <a:r>
              <a:rPr sz="1500" b="1" i="0">
                <a:solidFill>
                  <a:srgbClr val="0F4D24"/>
                </a:solidFill>
                <a:latin typeface="Calibri"/>
              </a:rPr>
              <a:t>Próximos pasos (otros análisis y modelos)</a:t>
            </a:r>
          </a:p>
        </p:txBody>
      </p:sp>
      <p:sp>
        <p:nvSpPr>
          <p:cNvPr id="10" name="TextBox 9"/>
          <p:cNvSpPr txBox="1"/>
          <p:nvPr/>
        </p:nvSpPr>
        <p:spPr>
          <a:xfrm>
            <a:off x="6355080" y="1874519"/>
            <a:ext cx="5120640" cy="4297680"/>
          </a:xfrm>
          <a:prstGeom prst="rect">
            <a:avLst/>
          </a:prstGeom>
          <a:noFill/>
        </p:spPr>
        <p:txBody>
          <a:bodyPr wrap="square" lIns="45720" rIns="45720">
            <a:spAutoFit/>
          </a:bodyPr>
          <a:lstStyle/>
          <a:p>
            <a:pPr>
              <a:lnSpc>
                <a:spcPct val="108000"/>
              </a:lnSpc>
              <a:spcAft>
                <a:spcPts val="400"/>
              </a:spcAft>
            </a:pPr>
            <a:r>
              <a:rPr sz="1300" b="1">
                <a:solidFill>
                  <a:srgbClr val="1B7F3B"/>
                </a:solidFill>
                <a:latin typeface="Calibri"/>
              </a:rPr>
              <a:t>• </a:t>
            </a:r>
            <a:r>
              <a:rPr b="1" sz="1300">
                <a:solidFill>
                  <a:srgbClr val="212121"/>
                </a:solidFill>
                <a:latin typeface="Calibri"/>
              </a:rPr>
              <a:t>Segmentar por país y línea de servicio </a:t>
            </a:r>
            <a:r>
              <a:rPr sz="1300">
                <a:solidFill>
                  <a:srgbClr val="212121"/>
                </a:solidFill>
                <a:latin typeface="Calibri"/>
              </a:rPr>
              <a:t>(el dataset original de Kaggle incluye ubicación y puesto) para localizar dónde se concentran las quejas de proyectos y dirección.</a:t>
            </a:r>
          </a:p>
          <a:p>
            <a:pPr>
              <a:lnSpc>
                <a:spcPct val="108000"/>
              </a:lnSpc>
              <a:spcAft>
                <a:spcPts val="400"/>
              </a:spcAft>
            </a:pPr>
            <a:r>
              <a:rPr sz="1300" b="1">
                <a:solidFill>
                  <a:srgbClr val="1B7F3B"/>
                </a:solidFill>
                <a:latin typeface="Calibri"/>
              </a:rPr>
              <a:t>• </a:t>
            </a:r>
            <a:r>
              <a:rPr b="1" sz="1300">
                <a:solidFill>
                  <a:srgbClr val="212121"/>
                </a:solidFill>
                <a:latin typeface="Calibri"/>
              </a:rPr>
              <a:t>Clasificación multietiqueta por aspectos: </a:t>
            </a:r>
            <a:r>
              <a:rPr sz="1300">
                <a:solidFill>
                  <a:srgbClr val="212121"/>
                </a:solidFill>
                <a:latin typeface="Calibri"/>
              </a:rPr>
              <a:t>una reseña que menciona horas y salario cuenta en ambas; entrenar un clasificador con las 8.000 etiquetas y aplicarlo a las 129.000 reseñas.</a:t>
            </a:r>
          </a:p>
          <a:p>
            <a:pPr>
              <a:lnSpc>
                <a:spcPct val="108000"/>
              </a:lnSpc>
              <a:spcAft>
                <a:spcPts val="400"/>
              </a:spcAft>
            </a:pPr>
            <a:r>
              <a:rPr sz="1300" b="1">
                <a:solidFill>
                  <a:srgbClr val="1B7F3B"/>
                </a:solidFill>
                <a:latin typeface="Calibri"/>
              </a:rPr>
              <a:t>• </a:t>
            </a:r>
            <a:r>
              <a:rPr b="1" sz="1300">
                <a:solidFill>
                  <a:srgbClr val="212121"/>
                </a:solidFill>
                <a:latin typeface="Calibri"/>
              </a:rPr>
              <a:t>Seguimiento trimestral automatizado </a:t>
            </a:r>
            <a:r>
              <a:rPr sz="1300">
                <a:solidFill>
                  <a:srgbClr val="212121"/>
                </a:solidFill>
                <a:latin typeface="Calibri"/>
              </a:rPr>
              <a:t>con el mismo pipeline y alertas cuando una categoría cambie más de 3 pp.</a:t>
            </a:r>
          </a:p>
          <a:p>
            <a:pPr>
              <a:lnSpc>
                <a:spcPct val="108000"/>
              </a:lnSpc>
              <a:spcAft>
                <a:spcPts val="400"/>
              </a:spcAft>
            </a:pPr>
            <a:r>
              <a:rPr sz="1300" b="1">
                <a:solidFill>
                  <a:srgbClr val="1B7F3B"/>
                </a:solidFill>
                <a:latin typeface="Calibri"/>
              </a:rPr>
              <a:t>• </a:t>
            </a:r>
            <a:r>
              <a:rPr b="1" sz="1300">
                <a:solidFill>
                  <a:srgbClr val="212121"/>
                </a:solidFill>
                <a:latin typeface="Calibri"/>
              </a:rPr>
              <a:t>Cruzar con datos internos: </a:t>
            </a:r>
            <a:r>
              <a:rPr sz="1300">
                <a:solidFill>
                  <a:srgbClr val="212121"/>
                </a:solidFill>
                <a:latin typeface="Calibri"/>
              </a:rPr>
              <a:t>encuestas de clima, entrevistas de salida y rotación real por equipo para validar que la calidad directiva explica las salidas.</a:t>
            </a:r>
          </a:p>
          <a:p>
            <a:pPr>
              <a:lnSpc>
                <a:spcPct val="108000"/>
              </a:lnSpc>
              <a:spcAft>
                <a:spcPts val="400"/>
              </a:spcAft>
            </a:pPr>
            <a:r>
              <a:rPr sz="1300" b="1">
                <a:solidFill>
                  <a:srgbClr val="1B7F3B"/>
                </a:solidFill>
                <a:latin typeface="Calibri"/>
              </a:rPr>
              <a:t>• </a:t>
            </a:r>
            <a:r>
              <a:rPr b="1" sz="1300">
                <a:solidFill>
                  <a:srgbClr val="212121"/>
                </a:solidFill>
                <a:latin typeface="Calibri"/>
              </a:rPr>
              <a:t>Validar las categorías </a:t>
            </a:r>
            <a:r>
              <a:rPr sz="1300">
                <a:solidFill>
                  <a:srgbClr val="212121"/>
                </a:solidFill>
                <a:latin typeface="Calibri"/>
              </a:rPr>
              <a:t>con un segundo revisor o un LLM como juez para medir el acuerdo.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lnSpc>
                <a:spcPct val="110000"/>
              </a:lnSpc>
            </a:pPr>
            <a:r>
              <a:rPr sz="3000" b="1" i="0">
                <a:solidFill>
                  <a:srgbClr val="0F4D24"/>
                </a:solidFill>
                <a:latin typeface="Cambria"/>
              </a:rPr>
              <a:t>Anexo · Parámetros técnicos y reproducibilidad</a:t>
            </a:r>
          </a:p>
        </p:txBody>
      </p:sp>
      <p:sp>
        <p:nvSpPr>
          <p:cNvPr id="3" name="TextBox 2"/>
          <p:cNvSpPr txBox="1"/>
          <p:nvPr/>
        </p:nvSpPr>
        <p:spPr>
          <a:xfrm>
            <a:off x="548640" y="6446520"/>
            <a:ext cx="10362895" cy="274320"/>
          </a:xfrm>
          <a:prstGeom prst="rect">
            <a:avLst/>
          </a:prstGeom>
          <a:noFill/>
        </p:spPr>
        <p:txBody>
          <a:bodyPr wrap="square" anchor="t" lIns="45720" rIns="45720">
            <a:spAutoFit/>
          </a:bodyPr>
          <a:lstStyle/>
          <a:p>
            <a:pPr algn="l">
              <a:lnSpc>
                <a:spcPct val="110000"/>
              </a:lnSpc>
            </a:pPr>
            <a:r>
              <a:rPr sz="900" b="0" i="0">
                <a:solidFill>
                  <a:srgbClr val="8C8C8C"/>
                </a:solidFill>
                <a:latin typeface="Calibri"/>
              </a:rPr>
              <a:t>Diagnóstico de marca empleadora · Deloitte vs. PwC, EY, KPMG · Glassdoor 2018-2023</a:t>
            </a:r>
          </a:p>
        </p:txBody>
      </p:sp>
      <p:sp>
        <p:nvSpPr>
          <p:cNvPr id="4" name="TextBox 3"/>
          <p:cNvSpPr txBox="1"/>
          <p:nvPr/>
        </p:nvSpPr>
        <p:spPr>
          <a:xfrm>
            <a:off x="11002975" y="6446520"/>
            <a:ext cx="640080" cy="274320"/>
          </a:xfrm>
          <a:prstGeom prst="rect">
            <a:avLst/>
          </a:prstGeom>
          <a:noFill/>
        </p:spPr>
        <p:txBody>
          <a:bodyPr wrap="square" anchor="t" lIns="45720" rIns="45720">
            <a:spAutoFit/>
          </a:bodyPr>
          <a:lstStyle/>
          <a:p>
            <a:pPr algn="r">
              <a:lnSpc>
                <a:spcPct val="110000"/>
              </a:lnSpc>
            </a:pPr>
            <a:r>
              <a:rPr sz="900" b="0" i="0">
                <a:solidFill>
                  <a:srgbClr val="8C8C8C"/>
                </a:solidFill>
                <a:latin typeface="Calibri"/>
              </a:rPr>
              <a:t>17</a:t>
            </a:r>
          </a:p>
        </p:txBody>
      </p:sp>
      <p:graphicFrame>
        <p:nvGraphicFramePr>
          <p:cNvPr id="5" name="Table 4"/>
          <p:cNvGraphicFramePr>
            <a:graphicFrameLocks noGrp="1"/>
          </p:cNvGraphicFramePr>
          <p:nvPr/>
        </p:nvGraphicFramePr>
        <p:xfrm>
          <a:off x="548640" y="1280160"/>
          <a:ext cx="11064240" cy="4937760"/>
        </p:xfrm>
        <a:graphic>
          <a:graphicData uri="http://schemas.openxmlformats.org/drawingml/2006/table">
            <a:tbl>
              <a:tblPr firstRow="1" bandRow="1">
                <a:tableStyleId>{5C22544A-7EE6-4342-B048-85BDC9FD1C3A}</a:tableStyleId>
              </a:tblPr>
              <a:tblGrid>
                <a:gridCol w="1280160"/>
                <a:gridCol w="3108960"/>
                <a:gridCol w="3474720"/>
                <a:gridCol w="3200400"/>
              </a:tblGrid>
              <a:tr h="493776">
                <a:tc>
                  <a:txBody>
                    <a:bodyPr/>
                    <a:lstStyle/>
                    <a:p>
                      <a:r>
                        <a:rPr sz="1000" b="1">
                          <a:solidFill>
                            <a:srgbClr val="FFFFFF"/>
                          </a:solidFill>
                          <a:latin typeface="Calibri"/>
                        </a:rPr>
                        <a:t>Paso</a:t>
                      </a:r>
                    </a:p>
                  </a:txBody>
                  <a:tcPr marL="54864" marR="54864" marT="27432" marB="27432" anchor="ctr">
                    <a:solidFill>
                      <a:srgbClr val="0F4D24"/>
                    </a:solidFill>
                  </a:tcPr>
                </a:tc>
                <a:tc>
                  <a:txBody>
                    <a:bodyPr/>
                    <a:lstStyle/>
                    <a:p>
                      <a:r>
                        <a:rPr sz="1000" b="1">
                          <a:solidFill>
                            <a:srgbClr val="FFFFFF"/>
                          </a:solidFill>
                          <a:latin typeface="Calibri"/>
                        </a:rPr>
                        <a:t>Herramienta / modelo</a:t>
                      </a:r>
                    </a:p>
                  </a:txBody>
                  <a:tcPr marL="54864" marR="54864" marT="27432" marB="27432" anchor="ctr">
                    <a:solidFill>
                      <a:srgbClr val="0F4D24"/>
                    </a:solidFill>
                  </a:tcPr>
                </a:tc>
                <a:tc>
                  <a:txBody>
                    <a:bodyPr/>
                    <a:lstStyle/>
                    <a:p>
                      <a:r>
                        <a:rPr sz="1000" b="1">
                          <a:solidFill>
                            <a:srgbClr val="FFFFFF"/>
                          </a:solidFill>
                          <a:latin typeface="Calibri"/>
                        </a:rPr>
                        <a:t>Parámetros</a:t>
                      </a:r>
                    </a:p>
                  </a:txBody>
                  <a:tcPr marL="54864" marR="54864" marT="27432" marB="27432" anchor="ctr">
                    <a:solidFill>
                      <a:srgbClr val="0F4D24"/>
                    </a:solidFill>
                  </a:tcPr>
                </a:tc>
                <a:tc>
                  <a:txBody>
                    <a:bodyPr/>
                    <a:lstStyle/>
                    <a:p>
                      <a:r>
                        <a:rPr sz="1000" b="1">
                          <a:solidFill>
                            <a:srgbClr val="FFFFFF"/>
                          </a:solidFill>
                          <a:latin typeface="Calibri"/>
                        </a:rPr>
                        <a:t>Justificación</a:t>
                      </a:r>
                    </a:p>
                  </a:txBody>
                  <a:tcPr marL="54864" marR="54864" marT="27432" marB="27432" anchor="ctr">
                    <a:solidFill>
                      <a:srgbClr val="0F4D24"/>
                    </a:solidFill>
                  </a:tcPr>
                </a:tc>
              </a:tr>
              <a:tr h="493776">
                <a:tc>
                  <a:txBody>
                    <a:bodyPr/>
                    <a:lstStyle/>
                    <a:p>
                      <a:r>
                        <a:rPr sz="1000" b="1">
                          <a:solidFill>
                            <a:srgbClr val="212121"/>
                          </a:solidFill>
                          <a:latin typeface="Calibri"/>
                        </a:rPr>
                        <a:t>Muestra</a:t>
                      </a:r>
                    </a:p>
                  </a:txBody>
                  <a:tcPr marL="54864" marR="54864" marT="27432" marB="27432" anchor="ctr">
                    <a:solidFill>
                      <a:srgbClr val="FFFFFF"/>
                    </a:solidFill>
                  </a:tcPr>
                </a:tc>
                <a:tc>
                  <a:txBody>
                    <a:bodyPr/>
                    <a:lstStyle/>
                    <a:p>
                      <a:r>
                        <a:rPr sz="1000" b="0">
                          <a:solidFill>
                            <a:srgbClr val="212121"/>
                          </a:solidFill>
                          <a:latin typeface="Calibri"/>
                        </a:rPr>
                        <a:t>pandas</a:t>
                      </a:r>
                    </a:p>
                  </a:txBody>
                  <a:tcPr marL="54864" marR="54864" marT="27432" marB="27432" anchor="ctr">
                    <a:solidFill>
                      <a:srgbClr val="FFFFFF"/>
                    </a:solidFill>
                  </a:tcPr>
                </a:tc>
                <a:tc>
                  <a:txBody>
                    <a:bodyPr/>
                    <a:lstStyle/>
                    <a:p>
                      <a:r>
                        <a:rPr sz="1000" b="0">
                          <a:solidFill>
                            <a:srgbClr val="212121"/>
                          </a:solidFill>
                          <a:latin typeface="Calibri"/>
                        </a:rPr>
                        <a:t>2.000 reseñas por firma, random_state=42</a:t>
                      </a:r>
                    </a:p>
                  </a:txBody>
                  <a:tcPr marL="54864" marR="54864" marT="27432" marB="27432" anchor="ctr">
                    <a:solidFill>
                      <a:srgbClr val="FFFFFF"/>
                    </a:solidFill>
                  </a:tcPr>
                </a:tc>
                <a:tc>
                  <a:txBody>
                    <a:bodyPr/>
                    <a:lstStyle/>
                    <a:p>
                      <a:r>
                        <a:rPr sz="1000" b="0">
                          <a:solidFill>
                            <a:srgbClr val="212121"/>
                          </a:solidFill>
                          <a:latin typeface="Calibri"/>
                        </a:rPr>
                        <a:t>Tiempo de cómputo; mismo peso de cada firma en el modelo conjunto</a:t>
                      </a:r>
                    </a:p>
                  </a:txBody>
                  <a:tcPr marL="54864" marR="54864" marT="27432" marB="27432" anchor="ctr">
                    <a:solidFill>
                      <a:srgbClr val="FFFFFF"/>
                    </a:solidFill>
                  </a:tcPr>
                </a:tc>
              </a:tr>
              <a:tr h="493776">
                <a:tc>
                  <a:txBody>
                    <a:bodyPr/>
                    <a:lstStyle/>
                    <a:p>
                      <a:r>
                        <a:rPr sz="1000" b="1">
                          <a:solidFill>
                            <a:srgbClr val="212121"/>
                          </a:solidFill>
                          <a:latin typeface="Calibri"/>
                        </a:rPr>
                        <a:t>Sentimiento</a:t>
                      </a:r>
                    </a:p>
                  </a:txBody>
                  <a:tcPr marL="54864" marR="54864" marT="27432" marB="27432" anchor="ctr">
                    <a:solidFill>
                      <a:srgbClr val="F2F2F2"/>
                    </a:solidFill>
                  </a:tcPr>
                </a:tc>
                <a:tc>
                  <a:txBody>
                    <a:bodyPr/>
                    <a:lstStyle/>
                    <a:p>
                      <a:r>
                        <a:rPr sz="1000" b="0">
                          <a:solidFill>
                            <a:srgbClr val="212121"/>
                          </a:solidFill>
                          <a:latin typeface="Calibri"/>
                        </a:rPr>
                        <a:t>transformers · distilbert-base-uncased-finetuned-sst-2-english</a:t>
                      </a:r>
                    </a:p>
                  </a:txBody>
                  <a:tcPr marL="54864" marR="54864" marT="27432" marB="27432" anchor="ctr">
                    <a:solidFill>
                      <a:srgbClr val="F2F2F2"/>
                    </a:solidFill>
                  </a:tcPr>
                </a:tc>
                <a:tc>
                  <a:txBody>
                    <a:bodyPr/>
                    <a:lstStyle/>
                    <a:p>
                      <a:r>
                        <a:rPr sz="1000" b="0">
                          <a:solidFill>
                            <a:srgbClr val="212121"/>
                          </a:solidFill>
                          <a:latin typeface="Calibri"/>
                        </a:rPr>
                        <a:t>truncation=True, max_length=512, batch 64, textos ordenados por longitud</a:t>
                      </a:r>
                    </a:p>
                  </a:txBody>
                  <a:tcPr marL="54864" marR="54864" marT="27432" marB="27432" anchor="ctr">
                    <a:solidFill>
                      <a:srgbClr val="F2F2F2"/>
                    </a:solidFill>
                  </a:tcPr>
                </a:tc>
                <a:tc>
                  <a:txBody>
                    <a:bodyPr/>
                    <a:lstStyle/>
                    <a:p>
                      <a:r>
                        <a:rPr sz="1000" b="0">
                          <a:solidFill>
                            <a:srgbClr val="212121"/>
                          </a:solidFill>
                          <a:latin typeface="Calibri"/>
                        </a:rPr>
                        <a:t>Binario, inglés, rápido; límite de 512 tokens de BERT</a:t>
                      </a:r>
                    </a:p>
                  </a:txBody>
                  <a:tcPr marL="54864" marR="54864" marT="27432" marB="27432" anchor="ctr">
                    <a:solidFill>
                      <a:srgbClr val="F2F2F2"/>
                    </a:solidFill>
                  </a:tcPr>
                </a:tc>
              </a:tr>
              <a:tr h="493776">
                <a:tc>
                  <a:txBody>
                    <a:bodyPr/>
                    <a:lstStyle/>
                    <a:p>
                      <a:r>
                        <a:rPr sz="1000" b="1">
                          <a:solidFill>
                            <a:srgbClr val="212121"/>
                          </a:solidFill>
                          <a:latin typeface="Calibri"/>
                        </a:rPr>
                        <a:t>Embeddings</a:t>
                      </a:r>
                    </a:p>
                  </a:txBody>
                  <a:tcPr marL="54864" marR="54864" marT="27432" marB="27432" anchor="ctr">
                    <a:solidFill>
                      <a:srgbClr val="FFFFFF"/>
                    </a:solidFill>
                  </a:tcPr>
                </a:tc>
                <a:tc>
                  <a:txBody>
                    <a:bodyPr/>
                    <a:lstStyle/>
                    <a:p>
                      <a:r>
                        <a:rPr sz="1000" b="0">
                          <a:solidFill>
                            <a:srgbClr val="212121"/>
                          </a:solidFill>
                          <a:latin typeface="Calibri"/>
                        </a:rPr>
                        <a:t>sentence-transformers · all-MiniLM-L6-v2</a:t>
                      </a:r>
                    </a:p>
                  </a:txBody>
                  <a:tcPr marL="54864" marR="54864" marT="27432" marB="27432" anchor="ctr">
                    <a:solidFill>
                      <a:srgbClr val="FFFFFF"/>
                    </a:solidFill>
                  </a:tcPr>
                </a:tc>
                <a:tc>
                  <a:txBody>
                    <a:bodyPr/>
                    <a:lstStyle/>
                    <a:p>
                      <a:r>
                        <a:rPr sz="1000" b="0">
                          <a:solidFill>
                            <a:srgbClr val="212121"/>
                          </a:solidFill>
                          <a:latin typeface="Calibri"/>
                        </a:rPr>
                        <a:t>384 dim., normalizados</a:t>
                      </a:r>
                    </a:p>
                  </a:txBody>
                  <a:tcPr marL="54864" marR="54864" marT="27432" marB="27432" anchor="ctr">
                    <a:solidFill>
                      <a:srgbClr val="FFFFFF"/>
                    </a:solidFill>
                  </a:tcPr>
                </a:tc>
                <a:tc>
                  <a:txBody>
                    <a:bodyPr/>
                    <a:lstStyle/>
                    <a:p>
                      <a:r>
                        <a:rPr sz="1000" b="0">
                          <a:solidFill>
                            <a:srgbClr val="212121"/>
                          </a:solidFill>
                          <a:latin typeface="Calibri"/>
                        </a:rPr>
                        <a:t>Frases cortas en inglés; 16.000 textos en ~20 s</a:t>
                      </a:r>
                    </a:p>
                  </a:txBody>
                  <a:tcPr marL="54864" marR="54864" marT="27432" marB="27432" anchor="ctr">
                    <a:solidFill>
                      <a:srgbClr val="FFFFFF"/>
                    </a:solidFill>
                  </a:tcPr>
                </a:tc>
              </a:tr>
              <a:tr h="493776">
                <a:tc>
                  <a:txBody>
                    <a:bodyPr/>
                    <a:lstStyle/>
                    <a:p>
                      <a:r>
                        <a:rPr sz="1000" b="1">
                          <a:solidFill>
                            <a:srgbClr val="212121"/>
                          </a:solidFill>
                          <a:latin typeface="Calibri"/>
                        </a:rPr>
                        <a:t>Reducción</a:t>
                      </a:r>
                    </a:p>
                  </a:txBody>
                  <a:tcPr marL="54864" marR="54864" marT="27432" marB="27432" anchor="ctr">
                    <a:solidFill>
                      <a:srgbClr val="F2F2F2"/>
                    </a:solidFill>
                  </a:tcPr>
                </a:tc>
                <a:tc>
                  <a:txBody>
                    <a:bodyPr/>
                    <a:lstStyle/>
                    <a:p>
                      <a:r>
                        <a:rPr sz="1000" b="0">
                          <a:solidFill>
                            <a:srgbClr val="212121"/>
                          </a:solidFill>
                          <a:latin typeface="Calibri"/>
                        </a:rPr>
                        <a:t>UMAP</a:t>
                      </a:r>
                    </a:p>
                  </a:txBody>
                  <a:tcPr marL="54864" marR="54864" marT="27432" marB="27432" anchor="ctr">
                    <a:solidFill>
                      <a:srgbClr val="F2F2F2"/>
                    </a:solidFill>
                  </a:tcPr>
                </a:tc>
                <a:tc>
                  <a:txBody>
                    <a:bodyPr/>
                    <a:lstStyle/>
                    <a:p>
                      <a:r>
                        <a:rPr sz="1000" b="0">
                          <a:solidFill>
                            <a:srgbClr val="212121"/>
                          </a:solidFill>
                          <a:latin typeface="Calibri"/>
                        </a:rPr>
                        <a:t>n_neighbors=15, n_components=5, min_dist=0.0, cosine, random_state=42</a:t>
                      </a:r>
                    </a:p>
                  </a:txBody>
                  <a:tcPr marL="54864" marR="54864" marT="27432" marB="27432" anchor="ctr">
                    <a:solidFill>
                      <a:srgbClr val="F2F2F2"/>
                    </a:solidFill>
                  </a:tcPr>
                </a:tc>
                <a:tc>
                  <a:txBody>
                    <a:bodyPr/>
                    <a:lstStyle/>
                    <a:p>
                      <a:r>
                        <a:rPr sz="1000" b="0">
                          <a:solidFill>
                            <a:srgbClr val="212121"/>
                          </a:solidFill>
                          <a:latin typeface="Calibri"/>
                        </a:rPr>
                        <a:t>Valores recomendados por el autor de BERTopic; reproducible</a:t>
                      </a:r>
                    </a:p>
                  </a:txBody>
                  <a:tcPr marL="54864" marR="54864" marT="27432" marB="27432" anchor="ctr">
                    <a:solidFill>
                      <a:srgbClr val="F2F2F2"/>
                    </a:solidFill>
                  </a:tcPr>
                </a:tc>
              </a:tr>
              <a:tr h="493776">
                <a:tc>
                  <a:txBody>
                    <a:bodyPr/>
                    <a:lstStyle/>
                    <a:p>
                      <a:r>
                        <a:rPr sz="1000" b="1">
                          <a:solidFill>
                            <a:srgbClr val="212121"/>
                          </a:solidFill>
                          <a:latin typeface="Calibri"/>
                        </a:rPr>
                        <a:t>Clustering</a:t>
                      </a:r>
                    </a:p>
                  </a:txBody>
                  <a:tcPr marL="54864" marR="54864" marT="27432" marB="27432" anchor="ctr">
                    <a:solidFill>
                      <a:srgbClr val="FFFFFF"/>
                    </a:solidFill>
                  </a:tcPr>
                </a:tc>
                <a:tc>
                  <a:txBody>
                    <a:bodyPr/>
                    <a:lstStyle/>
                    <a:p>
                      <a:r>
                        <a:rPr sz="1000" b="0">
                          <a:solidFill>
                            <a:srgbClr val="212121"/>
                          </a:solidFill>
                          <a:latin typeface="Calibri"/>
                        </a:rPr>
                        <a:t>HDBSCAN</a:t>
                      </a:r>
                    </a:p>
                  </a:txBody>
                  <a:tcPr marL="54864" marR="54864" marT="27432" marB="27432" anchor="ctr">
                    <a:solidFill>
                      <a:srgbClr val="FFFFFF"/>
                    </a:solidFill>
                  </a:tcPr>
                </a:tc>
                <a:tc>
                  <a:txBody>
                    <a:bodyPr/>
                    <a:lstStyle/>
                    <a:p>
                      <a:r>
                        <a:rPr sz="1000" b="0">
                          <a:solidFill>
                            <a:srgbClr val="212121"/>
                          </a:solidFill>
                          <a:latin typeface="Calibri"/>
                        </a:rPr>
                        <a:t>min_cluster_size=60, min_samples=10, eom</a:t>
                      </a:r>
                    </a:p>
                  </a:txBody>
                  <a:tcPr marL="54864" marR="54864" marT="27432" marB="27432" anchor="ctr">
                    <a:solidFill>
                      <a:srgbClr val="FFFFFF"/>
                    </a:solidFill>
                  </a:tcPr>
                </a:tc>
                <a:tc>
                  <a:txBody>
                    <a:bodyPr/>
                    <a:lstStyle/>
                    <a:p>
                      <a:r>
                        <a:rPr sz="1000" b="0">
                          <a:solidFill>
                            <a:srgbClr val="212121"/>
                          </a:solidFill>
                          <a:latin typeface="Calibri"/>
                        </a:rPr>
                        <a:t>Topic = patrón de ≥ 60 reseñas; menos outliers</a:t>
                      </a:r>
                    </a:p>
                  </a:txBody>
                  <a:tcPr marL="54864" marR="54864" marT="27432" marB="27432" anchor="ctr">
                    <a:solidFill>
                      <a:srgbClr val="FFFFFF"/>
                    </a:solidFill>
                  </a:tcPr>
                </a:tc>
              </a:tr>
              <a:tr h="493776">
                <a:tc>
                  <a:txBody>
                    <a:bodyPr/>
                    <a:lstStyle/>
                    <a:p>
                      <a:r>
                        <a:rPr sz="1000" b="1">
                          <a:solidFill>
                            <a:srgbClr val="212121"/>
                          </a:solidFill>
                          <a:latin typeface="Calibri"/>
                        </a:rPr>
                        <a:t>Representación</a:t>
                      </a:r>
                    </a:p>
                  </a:txBody>
                  <a:tcPr marL="54864" marR="54864" marT="27432" marB="27432" anchor="ctr">
                    <a:solidFill>
                      <a:srgbClr val="F2F2F2"/>
                    </a:solidFill>
                  </a:tcPr>
                </a:tc>
                <a:tc>
                  <a:txBody>
                    <a:bodyPr/>
                    <a:lstStyle/>
                    <a:p>
                      <a:r>
                        <a:rPr sz="1000" b="0">
                          <a:solidFill>
                            <a:srgbClr val="212121"/>
                          </a:solidFill>
                          <a:latin typeface="Calibri"/>
                        </a:rPr>
                        <a:t>c-TF-IDF + MMR</a:t>
                      </a:r>
                    </a:p>
                  </a:txBody>
                  <a:tcPr marL="54864" marR="54864" marT="27432" marB="27432" anchor="ctr">
                    <a:solidFill>
                      <a:srgbClr val="F2F2F2"/>
                    </a:solidFill>
                  </a:tcPr>
                </a:tc>
                <a:tc>
                  <a:txBody>
                    <a:bodyPr/>
                    <a:lstStyle/>
                    <a:p>
                      <a:r>
                        <a:rPr sz="1000" b="0">
                          <a:solidFill>
                            <a:srgbClr val="212121"/>
                          </a:solidFill>
                          <a:latin typeface="Calibri"/>
                        </a:rPr>
                        <a:t>uni/bigramas, min_df=5, stopwords ampliadas, diversity=0.3</a:t>
                      </a:r>
                    </a:p>
                  </a:txBody>
                  <a:tcPr marL="54864" marR="54864" marT="27432" marB="27432" anchor="ctr">
                    <a:solidFill>
                      <a:srgbClr val="F2F2F2"/>
                    </a:solidFill>
                  </a:tcPr>
                </a:tc>
                <a:tc>
                  <a:txBody>
                    <a:bodyPr/>
                    <a:lstStyle/>
                    <a:p>
                      <a:r>
                        <a:rPr sz="1000" b="0">
                          <a:solidFill>
                            <a:srgbClr val="212121"/>
                          </a:solidFill>
                          <a:latin typeface="Calibri"/>
                        </a:rPr>
                        <a:t>Palabras clave temáticas y legibles</a:t>
                      </a:r>
                    </a:p>
                  </a:txBody>
                  <a:tcPr marL="54864" marR="54864" marT="27432" marB="27432" anchor="ctr">
                    <a:solidFill>
                      <a:srgbClr val="F2F2F2"/>
                    </a:solidFill>
                  </a:tcPr>
                </a:tc>
              </a:tr>
              <a:tr h="493776">
                <a:tc>
                  <a:txBody>
                    <a:bodyPr/>
                    <a:lstStyle/>
                    <a:p>
                      <a:r>
                        <a:rPr sz="1000" b="1">
                          <a:solidFill>
                            <a:srgbClr val="212121"/>
                          </a:solidFill>
                          <a:latin typeface="Calibri"/>
                        </a:rPr>
                        <a:t>Outliers</a:t>
                      </a:r>
                    </a:p>
                  </a:txBody>
                  <a:tcPr marL="54864" marR="54864" marT="27432" marB="27432" anchor="ctr">
                    <a:solidFill>
                      <a:srgbClr val="FFFFFF"/>
                    </a:solidFill>
                  </a:tcPr>
                </a:tc>
                <a:tc>
                  <a:txBody>
                    <a:bodyPr/>
                    <a:lstStyle/>
                    <a:p>
                      <a:r>
                        <a:rPr sz="1000" b="0">
                          <a:solidFill>
                            <a:srgbClr val="212121"/>
                          </a:solidFill>
                          <a:latin typeface="Calibri"/>
                        </a:rPr>
                        <a:t>reduce_outliers</a:t>
                      </a:r>
                    </a:p>
                  </a:txBody>
                  <a:tcPr marL="54864" marR="54864" marT="27432" marB="27432" anchor="ctr">
                    <a:solidFill>
                      <a:srgbClr val="FFFFFF"/>
                    </a:solidFill>
                  </a:tcPr>
                </a:tc>
                <a:tc>
                  <a:txBody>
                    <a:bodyPr/>
                    <a:lstStyle/>
                    <a:p>
                      <a:r>
                        <a:rPr sz="1000" b="0">
                          <a:solidFill>
                            <a:srgbClr val="212121"/>
                          </a:solidFill>
                          <a:latin typeface="Calibri"/>
                        </a:rPr>
                        <a:t>strategy='embeddings'</a:t>
                      </a:r>
                    </a:p>
                  </a:txBody>
                  <a:tcPr marL="54864" marR="54864" marT="27432" marB="27432" anchor="ctr">
                    <a:solidFill>
                      <a:srgbClr val="FFFFFF"/>
                    </a:solidFill>
                  </a:tcPr>
                </a:tc>
                <a:tc>
                  <a:txBody>
                    <a:bodyPr/>
                    <a:lstStyle/>
                    <a:p>
                      <a:r>
                        <a:rPr sz="1000" b="0">
                          <a:solidFill>
                            <a:srgbClr val="212121"/>
                          </a:solidFill>
                          <a:latin typeface="Calibri"/>
                        </a:rPr>
                        <a:t>Que cada reseña con contenido cuente; robustez comprobada</a:t>
                      </a:r>
                    </a:p>
                  </a:txBody>
                  <a:tcPr marL="54864" marR="54864" marT="27432" marB="27432" anchor="ctr">
                    <a:solidFill>
                      <a:srgbClr val="FFFFFF"/>
                    </a:solidFill>
                  </a:tcPr>
                </a:tc>
              </a:tr>
              <a:tr h="493776">
                <a:tc>
                  <a:txBody>
                    <a:bodyPr/>
                    <a:lstStyle/>
                    <a:p>
                      <a:r>
                        <a:rPr sz="1000" b="1">
                          <a:solidFill>
                            <a:srgbClr val="212121"/>
                          </a:solidFill>
                          <a:latin typeface="Calibri"/>
                        </a:rPr>
                        <a:t>Categorías</a:t>
                      </a:r>
                    </a:p>
                  </a:txBody>
                  <a:tcPr marL="54864" marR="54864" marT="27432" marB="27432" anchor="ctr">
                    <a:solidFill>
                      <a:srgbClr val="F2F2F2"/>
                    </a:solidFill>
                  </a:tcPr>
                </a:tc>
                <a:tc>
                  <a:txBody>
                    <a:bodyPr/>
                    <a:lstStyle/>
                    <a:p>
                      <a:r>
                        <a:rPr sz="1000" b="0">
                          <a:solidFill>
                            <a:srgbClr val="212121"/>
                          </a:solidFill>
                          <a:latin typeface="Calibri"/>
                        </a:rPr>
                        <a:t>Revisión manual + regla por léxico</a:t>
                      </a:r>
                    </a:p>
                  </a:txBody>
                  <a:tcPr marL="54864" marR="54864" marT="27432" marB="27432" anchor="ctr">
                    <a:solidFill>
                      <a:srgbClr val="F2F2F2"/>
                    </a:solidFill>
                  </a:tcPr>
                </a:tc>
                <a:tc>
                  <a:txBody>
                    <a:bodyPr/>
                    <a:lstStyle/>
                    <a:p>
                      <a:r>
                        <a:rPr sz="1000" b="0">
                          <a:solidFill>
                            <a:srgbClr val="212121"/>
                          </a:solidFill>
                          <a:latin typeface="Calibri"/>
                        </a:rPr>
                        <a:t>63 topics → 8 categorías + Otros + Sin contenido</a:t>
                      </a:r>
                    </a:p>
                  </a:txBody>
                  <a:tcPr marL="54864" marR="54864" marT="27432" marB="27432" anchor="ctr">
                    <a:solidFill>
                      <a:srgbClr val="F2F2F2"/>
                    </a:solidFill>
                  </a:tcPr>
                </a:tc>
                <a:tc>
                  <a:txBody>
                    <a:bodyPr/>
                    <a:lstStyle/>
                    <a:p>
                      <a:r>
                        <a:rPr sz="1000" b="0">
                          <a:solidFill>
                            <a:srgbClr val="212121"/>
                          </a:solidFill>
                          <a:latin typeface="Calibri"/>
                        </a:rPr>
                        <a:t>Las mismas en pros y cons para el balance neto</a:t>
                      </a:r>
                    </a:p>
                  </a:txBody>
                  <a:tcPr marL="54864" marR="54864" marT="27432" marB="27432" anchor="ctr">
                    <a:solidFill>
                      <a:srgbClr val="F2F2F2"/>
                    </a:solidFill>
                  </a:tcPr>
                </a:tc>
              </a:tr>
              <a:tr h="493776">
                <a:tc>
                  <a:txBody>
                    <a:bodyPr/>
                    <a:lstStyle/>
                    <a:p>
                      <a:r>
                        <a:rPr sz="1000" b="1">
                          <a:solidFill>
                            <a:srgbClr val="212121"/>
                          </a:solidFill>
                          <a:latin typeface="Calibri"/>
                        </a:rPr>
                        <a:t>Entorno</a:t>
                      </a:r>
                    </a:p>
                  </a:txBody>
                  <a:tcPr marL="54864" marR="54864" marT="27432" marB="27432" anchor="ctr">
                    <a:solidFill>
                      <a:srgbClr val="FFFFFF"/>
                    </a:solidFill>
                  </a:tcPr>
                </a:tc>
                <a:tc>
                  <a:txBody>
                    <a:bodyPr/>
                    <a:lstStyle/>
                    <a:p>
                      <a:r>
                        <a:rPr sz="1000" b="0">
                          <a:solidFill>
                            <a:srgbClr val="212121"/>
                          </a:solidFill>
                          <a:latin typeface="Calibri"/>
                        </a:rPr>
                        <a:t>Python 3.12 · torch 2.2.2 · transformers 4.49 · BERTopic 0.17</a:t>
                      </a:r>
                    </a:p>
                  </a:txBody>
                  <a:tcPr marL="54864" marR="54864" marT="27432" marB="27432" anchor="ctr">
                    <a:solidFill>
                      <a:srgbClr val="FFFFFF"/>
                    </a:solidFill>
                  </a:tcPr>
                </a:tc>
                <a:tc>
                  <a:txBody>
                    <a:bodyPr/>
                    <a:lstStyle/>
                    <a:p>
                      <a:r>
                        <a:rPr sz="1000" b="0">
                          <a:solidFill>
                            <a:srgbClr val="212121"/>
                          </a:solidFill>
                          <a:latin typeface="Calibri"/>
                        </a:rPr>
                        <a:t>Ejecución completa ≈ 5 min con GPU/MPS, 15-20 min en CPU</a:t>
                      </a:r>
                    </a:p>
                  </a:txBody>
                  <a:tcPr marL="54864" marR="54864" marT="27432" marB="27432" anchor="ctr">
                    <a:solidFill>
                      <a:srgbClr val="FFFFFF"/>
                    </a:solidFill>
                  </a:tcPr>
                </a:tc>
                <a:tc>
                  <a:txBody>
                    <a:bodyPr/>
                    <a:lstStyle/>
                    <a:p>
                      <a:r>
                        <a:rPr sz="1000" b="0">
                          <a:solidFill>
                            <a:srgbClr val="212121"/>
                          </a:solidFill>
                          <a:latin typeface="Calibri"/>
                        </a:rPr>
                        <a:t>requirements.txt y celda de instalación para Colab</a:t>
                      </a:r>
                    </a:p>
                  </a:txBody>
                  <a:tcPr marL="54864" marR="54864" marT="27432" marB="27432"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